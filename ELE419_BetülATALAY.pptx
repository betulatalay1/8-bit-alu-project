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65" r:id="rId3"/>
    <p:sldId id="296" r:id="rId4"/>
    <p:sldId id="297" r:id="rId5"/>
    <p:sldId id="298" r:id="rId6"/>
    <p:sldId id="299" r:id="rId7"/>
    <p:sldId id="257" r:id="rId8"/>
    <p:sldId id="266" r:id="rId9"/>
    <p:sldId id="271" r:id="rId10"/>
    <p:sldId id="272" r:id="rId11"/>
    <p:sldId id="305" r:id="rId12"/>
    <p:sldId id="307" r:id="rId13"/>
    <p:sldId id="308" r:id="rId14"/>
    <p:sldId id="309" r:id="rId15"/>
    <p:sldId id="306" r:id="rId16"/>
    <p:sldId id="258" r:id="rId17"/>
    <p:sldId id="275" r:id="rId18"/>
    <p:sldId id="276" r:id="rId19"/>
    <p:sldId id="277" r:id="rId20"/>
    <p:sldId id="259" r:id="rId21"/>
    <p:sldId id="278" r:id="rId22"/>
    <p:sldId id="279" r:id="rId23"/>
    <p:sldId id="280" r:id="rId24"/>
    <p:sldId id="263" r:id="rId25"/>
    <p:sldId id="270" r:id="rId26"/>
    <p:sldId id="281" r:id="rId27"/>
    <p:sldId id="282" r:id="rId28"/>
    <p:sldId id="283" r:id="rId29"/>
    <p:sldId id="260" r:id="rId30"/>
    <p:sldId id="284" r:id="rId31"/>
    <p:sldId id="285" r:id="rId32"/>
    <p:sldId id="286" r:id="rId33"/>
    <p:sldId id="269" r:id="rId34"/>
    <p:sldId id="287" r:id="rId35"/>
    <p:sldId id="288" r:id="rId36"/>
    <p:sldId id="289" r:id="rId37"/>
    <p:sldId id="262" r:id="rId38"/>
    <p:sldId id="290" r:id="rId39"/>
    <p:sldId id="291" r:id="rId40"/>
    <p:sldId id="292" r:id="rId41"/>
    <p:sldId id="264" r:id="rId42"/>
    <p:sldId id="300" r:id="rId43"/>
    <p:sldId id="301" r:id="rId44"/>
    <p:sldId id="303" r:id="rId45"/>
    <p:sldId id="304" r:id="rId46"/>
    <p:sldId id="302" r:id="rId47"/>
    <p:sldId id="26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EFC693-19E5-49D5-B6CB-5496BD9639AC}" v="5" dt="2026-01-01T19:19:14.8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7" autoAdjust="0"/>
    <p:restoredTop sz="94660"/>
  </p:normalViewPr>
  <p:slideViewPr>
    <p:cSldViewPr snapToGrid="0">
      <p:cViewPr varScale="1">
        <p:scale>
          <a:sx n="90" d="100"/>
          <a:sy n="90" d="100"/>
        </p:scale>
        <p:origin x="25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tül Atalay" userId="338d585f1b95d961" providerId="LiveId" clId="{A8030E5C-4024-4AEA-97CB-AF2252A31EEA}"/>
    <pc:docChg chg="undo custSel addSld delSld modSld">
      <pc:chgData name="Betül Atalay" userId="338d585f1b95d961" providerId="LiveId" clId="{A8030E5C-4024-4AEA-97CB-AF2252A31EEA}" dt="2026-01-01T19:24:17.889" v="174" actId="113"/>
      <pc:docMkLst>
        <pc:docMk/>
      </pc:docMkLst>
      <pc:sldChg chg="modSp mod">
        <pc:chgData name="Betül Atalay" userId="338d585f1b95d961" providerId="LiveId" clId="{A8030E5C-4024-4AEA-97CB-AF2252A31EEA}" dt="2026-01-01T19:24:17.889" v="174" actId="113"/>
        <pc:sldMkLst>
          <pc:docMk/>
          <pc:sldMk cId="950985961" sldId="266"/>
        </pc:sldMkLst>
        <pc:spChg chg="mod">
          <ac:chgData name="Betül Atalay" userId="338d585f1b95d961" providerId="LiveId" clId="{A8030E5C-4024-4AEA-97CB-AF2252A31EEA}" dt="2026-01-01T19:24:17.889" v="174" actId="113"/>
          <ac:spMkLst>
            <pc:docMk/>
            <pc:sldMk cId="950985961" sldId="266"/>
            <ac:spMk id="3" creationId="{2D11263F-B285-4108-3353-DF589BEC9CBE}"/>
          </ac:spMkLst>
        </pc:spChg>
      </pc:sldChg>
      <pc:sldChg chg="modSp mod">
        <pc:chgData name="Betül Atalay" userId="338d585f1b95d961" providerId="LiveId" clId="{A8030E5C-4024-4AEA-97CB-AF2252A31EEA}" dt="2026-01-01T19:23:26.557" v="173" actId="20577"/>
        <pc:sldMkLst>
          <pc:docMk/>
          <pc:sldMk cId="1625154803" sldId="272"/>
        </pc:sldMkLst>
        <pc:spChg chg="mod">
          <ac:chgData name="Betül Atalay" userId="338d585f1b95d961" providerId="LiveId" clId="{A8030E5C-4024-4AEA-97CB-AF2252A31EEA}" dt="2026-01-01T19:23:26.557" v="173" actId="20577"/>
          <ac:spMkLst>
            <pc:docMk/>
            <pc:sldMk cId="1625154803" sldId="272"/>
            <ac:spMk id="8" creationId="{9FA882B1-B78B-9F07-9DA3-DEF4AAFAE1F2}"/>
          </ac:spMkLst>
        </pc:spChg>
      </pc:sldChg>
      <pc:sldChg chg="addSp delSp modSp add mod">
        <pc:chgData name="Betül Atalay" userId="338d585f1b95d961" providerId="LiveId" clId="{A8030E5C-4024-4AEA-97CB-AF2252A31EEA}" dt="2026-01-01T19:18:02.355" v="29" actId="1076"/>
        <pc:sldMkLst>
          <pc:docMk/>
          <pc:sldMk cId="35285168" sldId="305"/>
        </pc:sldMkLst>
        <pc:spChg chg="mod">
          <ac:chgData name="Betül Atalay" userId="338d585f1b95d961" providerId="LiveId" clId="{A8030E5C-4024-4AEA-97CB-AF2252A31EEA}" dt="2026-01-01T19:17:57.589" v="26" actId="1076"/>
          <ac:spMkLst>
            <pc:docMk/>
            <pc:sldMk cId="35285168" sldId="305"/>
            <ac:spMk id="8" creationId="{870E76A8-796B-8CB6-BF82-7D333E7046E9}"/>
          </ac:spMkLst>
        </pc:spChg>
        <pc:picChg chg="add mod">
          <ac:chgData name="Betül Atalay" userId="338d585f1b95d961" providerId="LiveId" clId="{A8030E5C-4024-4AEA-97CB-AF2252A31EEA}" dt="2026-01-01T19:18:02.355" v="29" actId="1076"/>
          <ac:picMkLst>
            <pc:docMk/>
            <pc:sldMk cId="35285168" sldId="305"/>
            <ac:picMk id="4" creationId="{1D5D8574-D636-1D1E-D93F-3B082EF6B761}"/>
          </ac:picMkLst>
        </pc:picChg>
        <pc:picChg chg="del">
          <ac:chgData name="Betül Atalay" userId="338d585f1b95d961" providerId="LiveId" clId="{A8030E5C-4024-4AEA-97CB-AF2252A31EEA}" dt="2026-01-01T19:17:41.155" v="2" actId="478"/>
          <ac:picMkLst>
            <pc:docMk/>
            <pc:sldMk cId="35285168" sldId="305"/>
            <ac:picMk id="7" creationId="{F8CE5660-9482-C65C-CDF8-D493181A76DA}"/>
          </ac:picMkLst>
        </pc:picChg>
      </pc:sldChg>
      <pc:sldChg chg="addSp delSp modSp add del mod">
        <pc:chgData name="Betül Atalay" userId="338d585f1b95d961" providerId="LiveId" clId="{A8030E5C-4024-4AEA-97CB-AF2252A31EEA}" dt="2026-01-01T19:22:57.245" v="168" actId="1076"/>
        <pc:sldMkLst>
          <pc:docMk/>
          <pc:sldMk cId="2674561489" sldId="306"/>
        </pc:sldMkLst>
        <pc:spChg chg="mod">
          <ac:chgData name="Betül Atalay" userId="338d585f1b95d961" providerId="LiveId" clId="{A8030E5C-4024-4AEA-97CB-AF2252A31EEA}" dt="2026-01-01T19:22:48.258" v="160" actId="20577"/>
          <ac:spMkLst>
            <pc:docMk/>
            <pc:sldMk cId="2674561489" sldId="306"/>
            <ac:spMk id="8" creationId="{A9AB1DB6-9D6A-DE12-85B1-E828A326C84E}"/>
          </ac:spMkLst>
        </pc:spChg>
        <pc:picChg chg="add mod">
          <ac:chgData name="Betül Atalay" userId="338d585f1b95d961" providerId="LiveId" clId="{A8030E5C-4024-4AEA-97CB-AF2252A31EEA}" dt="2026-01-01T19:22:57.245" v="168" actId="1076"/>
          <ac:picMkLst>
            <pc:docMk/>
            <pc:sldMk cId="2674561489" sldId="306"/>
            <ac:picMk id="4" creationId="{5E556ACD-186D-0CFD-4619-0C76D95AEA03}"/>
          </ac:picMkLst>
        </pc:picChg>
        <pc:picChg chg="add mod">
          <ac:chgData name="Betül Atalay" userId="338d585f1b95d961" providerId="LiveId" clId="{A8030E5C-4024-4AEA-97CB-AF2252A31EEA}" dt="2026-01-01T19:22:55.214" v="167" actId="1076"/>
          <ac:picMkLst>
            <pc:docMk/>
            <pc:sldMk cId="2674561489" sldId="306"/>
            <ac:picMk id="6" creationId="{C189A5D6-1C66-0365-D79A-1185359ACF15}"/>
          </ac:picMkLst>
        </pc:picChg>
        <pc:picChg chg="del">
          <ac:chgData name="Betül Atalay" userId="338d585f1b95d961" providerId="LiveId" clId="{A8030E5C-4024-4AEA-97CB-AF2252A31EEA}" dt="2026-01-01T19:21:29.014" v="97" actId="478"/>
          <ac:picMkLst>
            <pc:docMk/>
            <pc:sldMk cId="2674561489" sldId="306"/>
            <ac:picMk id="7" creationId="{0358F9E4-706E-98FF-375D-680B1D5FD102}"/>
          </ac:picMkLst>
        </pc:picChg>
      </pc:sldChg>
      <pc:sldChg chg="addSp delSp modSp add mod">
        <pc:chgData name="Betül Atalay" userId="338d585f1b95d961" providerId="LiveId" clId="{A8030E5C-4024-4AEA-97CB-AF2252A31EEA}" dt="2026-01-01T19:18:35.262" v="40" actId="1076"/>
        <pc:sldMkLst>
          <pc:docMk/>
          <pc:sldMk cId="1700360295" sldId="307"/>
        </pc:sldMkLst>
        <pc:spChg chg="mod">
          <ac:chgData name="Betül Atalay" userId="338d585f1b95d961" providerId="LiveId" clId="{A8030E5C-4024-4AEA-97CB-AF2252A31EEA}" dt="2026-01-01T19:18:23.727" v="34" actId="20577"/>
          <ac:spMkLst>
            <pc:docMk/>
            <pc:sldMk cId="1700360295" sldId="307"/>
            <ac:spMk id="8" creationId="{C15EE279-C4B1-D1A4-B583-9CDC5898ABD6}"/>
          </ac:spMkLst>
        </pc:spChg>
        <pc:picChg chg="del">
          <ac:chgData name="Betül Atalay" userId="338d585f1b95d961" providerId="LiveId" clId="{A8030E5C-4024-4AEA-97CB-AF2252A31EEA}" dt="2026-01-01T19:18:31.304" v="35" actId="478"/>
          <ac:picMkLst>
            <pc:docMk/>
            <pc:sldMk cId="1700360295" sldId="307"/>
            <ac:picMk id="4" creationId="{42FF7350-96B4-63F3-EE01-1AD54D3ECF0B}"/>
          </ac:picMkLst>
        </pc:picChg>
        <pc:picChg chg="add mod">
          <ac:chgData name="Betül Atalay" userId="338d585f1b95d961" providerId="LiveId" clId="{A8030E5C-4024-4AEA-97CB-AF2252A31EEA}" dt="2026-01-01T19:18:35.262" v="40" actId="1076"/>
          <ac:picMkLst>
            <pc:docMk/>
            <pc:sldMk cId="1700360295" sldId="307"/>
            <ac:picMk id="5" creationId="{7F8935E0-5D8A-D370-2236-5E5F8173810C}"/>
          </ac:picMkLst>
        </pc:picChg>
      </pc:sldChg>
      <pc:sldChg chg="addSp delSp modSp add mod">
        <pc:chgData name="Betül Atalay" userId="338d585f1b95d961" providerId="LiveId" clId="{A8030E5C-4024-4AEA-97CB-AF2252A31EEA}" dt="2026-01-01T19:19:06.736" v="52" actId="1076"/>
        <pc:sldMkLst>
          <pc:docMk/>
          <pc:sldMk cId="1299044015" sldId="308"/>
        </pc:sldMkLst>
        <pc:spChg chg="mod">
          <ac:chgData name="Betül Atalay" userId="338d585f1b95d961" providerId="LiveId" clId="{A8030E5C-4024-4AEA-97CB-AF2252A31EEA}" dt="2026-01-01T19:18:40.861" v="43" actId="20577"/>
          <ac:spMkLst>
            <pc:docMk/>
            <pc:sldMk cId="1299044015" sldId="308"/>
            <ac:spMk id="8" creationId="{341BE05E-FC53-D2D7-998B-CADB739B0B35}"/>
          </ac:spMkLst>
        </pc:spChg>
        <pc:picChg chg="del">
          <ac:chgData name="Betül Atalay" userId="338d585f1b95d961" providerId="LiveId" clId="{A8030E5C-4024-4AEA-97CB-AF2252A31EEA}" dt="2026-01-01T19:18:42.228" v="44" actId="478"/>
          <ac:picMkLst>
            <pc:docMk/>
            <pc:sldMk cId="1299044015" sldId="308"/>
            <ac:picMk id="4" creationId="{C3C6B795-6BE9-AC2A-A014-955FEB304585}"/>
          </ac:picMkLst>
        </pc:picChg>
        <pc:picChg chg="add mod">
          <ac:chgData name="Betül Atalay" userId="338d585f1b95d961" providerId="LiveId" clId="{A8030E5C-4024-4AEA-97CB-AF2252A31EEA}" dt="2026-01-01T19:19:06.736" v="52" actId="1076"/>
          <ac:picMkLst>
            <pc:docMk/>
            <pc:sldMk cId="1299044015" sldId="308"/>
            <ac:picMk id="5" creationId="{3A35641A-21EA-F1EC-0941-70DF05E9BCE9}"/>
          </ac:picMkLst>
        </pc:picChg>
      </pc:sldChg>
      <pc:sldChg chg="addSp delSp modSp add mod">
        <pc:chgData name="Betül Atalay" userId="338d585f1b95d961" providerId="LiveId" clId="{A8030E5C-4024-4AEA-97CB-AF2252A31EEA}" dt="2026-01-01T19:20:47.748" v="96" actId="1076"/>
        <pc:sldMkLst>
          <pc:docMk/>
          <pc:sldMk cId="4090881878" sldId="309"/>
        </pc:sldMkLst>
        <pc:spChg chg="mod">
          <ac:chgData name="Betül Atalay" userId="338d585f1b95d961" providerId="LiveId" clId="{A8030E5C-4024-4AEA-97CB-AF2252A31EEA}" dt="2026-01-01T19:20:34.381" v="67" actId="1076"/>
          <ac:spMkLst>
            <pc:docMk/>
            <pc:sldMk cId="4090881878" sldId="309"/>
            <ac:spMk id="2" creationId="{EEFDCEF4-33F6-AA75-C9FF-CF08F87A723A}"/>
          </ac:spMkLst>
        </pc:spChg>
        <pc:spChg chg="mod">
          <ac:chgData name="Betül Atalay" userId="338d585f1b95d961" providerId="LiveId" clId="{A8030E5C-4024-4AEA-97CB-AF2252A31EEA}" dt="2026-01-01T19:20:43.548" v="91" actId="20577"/>
          <ac:spMkLst>
            <pc:docMk/>
            <pc:sldMk cId="4090881878" sldId="309"/>
            <ac:spMk id="8" creationId="{BE741443-0607-97FB-F166-03B07D5A67BB}"/>
          </ac:spMkLst>
        </pc:spChg>
        <pc:picChg chg="add mod">
          <ac:chgData name="Betül Atalay" userId="338d585f1b95d961" providerId="LiveId" clId="{A8030E5C-4024-4AEA-97CB-AF2252A31EEA}" dt="2026-01-01T19:20:47.748" v="96" actId="1076"/>
          <ac:picMkLst>
            <pc:docMk/>
            <pc:sldMk cId="4090881878" sldId="309"/>
            <ac:picMk id="4" creationId="{6A2F0A3B-DD9D-1259-775C-A68D1E43BBBD}"/>
          </ac:picMkLst>
        </pc:picChg>
        <pc:picChg chg="add del">
          <ac:chgData name="Betül Atalay" userId="338d585f1b95d961" providerId="LiveId" clId="{A8030E5C-4024-4AEA-97CB-AF2252A31EEA}" dt="2026-01-01T19:20:35.781" v="69" actId="478"/>
          <ac:picMkLst>
            <pc:docMk/>
            <pc:sldMk cId="4090881878" sldId="309"/>
            <ac:picMk id="5" creationId="{F9E95484-31AB-3E70-F2E9-893AE565E15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9073A9-590E-42E4-A038-08D1093BC32B}" type="datetimeFigureOut">
              <a:rPr lang="tr-TR" smtClean="0"/>
              <a:t>1.01.2026</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B3F62-6E47-4037-B313-23DA4CE0B558}" type="slidenum">
              <a:rPr lang="tr-TR" smtClean="0"/>
              <a:t>‹#›</a:t>
            </a:fld>
            <a:endParaRPr lang="tr-TR"/>
          </a:p>
        </p:txBody>
      </p:sp>
    </p:spTree>
    <p:extLst>
      <p:ext uri="{BB962C8B-B14F-4D97-AF65-F5344CB8AC3E}">
        <p14:creationId xmlns:p14="http://schemas.microsoft.com/office/powerpoint/2010/main" val="1045307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1B1B3F62-6E47-4037-B313-23DA4CE0B558}" type="slidenum">
              <a:rPr lang="tr-TR" smtClean="0"/>
              <a:t>47</a:t>
            </a:fld>
            <a:endParaRPr lang="tr-TR"/>
          </a:p>
        </p:txBody>
      </p:sp>
    </p:spTree>
    <p:extLst>
      <p:ext uri="{BB962C8B-B14F-4D97-AF65-F5344CB8AC3E}">
        <p14:creationId xmlns:p14="http://schemas.microsoft.com/office/powerpoint/2010/main" val="2337513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9328-B5E6-98CE-062F-4264869BFC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B95F05-9CA8-62E3-5C24-653C31FD4F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B4CC14-AAB9-199A-0E19-8F2638D2F8DC}"/>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C5F29DD4-94D4-8BFB-F0FF-28E6A4CB7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9121E9-AC7C-D419-157B-1113EA3234A2}"/>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264676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B25C-D568-2F2C-B3F8-FB22DCC0B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09DFAE-88C6-3DFD-CF64-ADCBA1492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7E1AE-8747-C17C-F6BC-74D9C70E18D0}"/>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6A0786E1-79E6-A6B7-81A4-7A3DF6469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F6D8E-F049-47DB-7521-0136B95E4F7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872882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A03E-F32B-EF97-EB5D-D9265F02C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37730F-58BC-FBB5-FCCB-57141A1935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B751D2-89E8-CD17-A2D0-7B69BDDC4D9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777B0289-6411-1E09-6CFC-81584CC67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C9661-30FD-C6CD-FECF-2A348C795CE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53403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B4D5-AC0C-15B2-1A30-6110B1695C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54A9F-47AE-1D99-CB18-F5BE66C3DC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6468E2-5A6D-737F-8C1B-CC0BB299C0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B0069-3478-FA03-9F33-47E944821929}"/>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7F4776F2-2B59-7792-65FE-D9B783B14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99DA99-1A03-5C05-094C-61B60690A54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54642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4F451-1CD1-BD36-09F0-F3D81AE23E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8695AE-2AFE-9B6B-B6CF-2BF31F404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5D8E2-AB58-63BD-B3C0-6766F8FC50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79982E-2C12-F6E5-D7D8-179F81A80C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DFB461-9DCD-BF66-E220-1800363DF1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4A8091-3178-5C74-EEBF-03441B4A91A1}"/>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8" name="Footer Placeholder 7">
            <a:extLst>
              <a:ext uri="{FF2B5EF4-FFF2-40B4-BE49-F238E27FC236}">
                <a16:creationId xmlns:a16="http://schemas.microsoft.com/office/drawing/2014/main" id="{BD0EF472-81D1-B95E-3263-E822F09027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3CAD9E-FA99-2C86-15AB-515F22F6F581}"/>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3542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4231-1C18-38FB-71F7-CEDE64D5C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57DE4B-0173-29AA-EB6C-6DB0F530012E}"/>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4" name="Footer Placeholder 3">
            <a:extLst>
              <a:ext uri="{FF2B5EF4-FFF2-40B4-BE49-F238E27FC236}">
                <a16:creationId xmlns:a16="http://schemas.microsoft.com/office/drawing/2014/main" id="{E01616F7-9926-2255-99F5-7C62B41C29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D21911-7096-1D7E-8DDB-814118A7B1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6107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10A48E-5FCB-0324-0E20-DF96A917ABA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3" name="Footer Placeholder 2">
            <a:extLst>
              <a:ext uri="{FF2B5EF4-FFF2-40B4-BE49-F238E27FC236}">
                <a16:creationId xmlns:a16="http://schemas.microsoft.com/office/drawing/2014/main" id="{5BD36B5B-A162-3839-8EBF-80228955B0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EEE1E3-0ADE-6B97-31D9-06D9D5AE9E80}"/>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5271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693C1-3612-A881-DA9B-B67CE58F9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04E551-9FAE-1E03-562F-515E84588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DC52AA-6825-B487-A894-2E682E2E5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1E27C-1C0F-563F-2074-88B254E8B0EC}"/>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19A89293-EBE2-2A93-4BFB-6D74D9B46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0DF0F8-416C-6ADB-5F4A-2C8F42593297}"/>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0681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8405-1F07-3B7C-3807-0F516521B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490-180B-8060-D6FF-7D0B3B5025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37DA8B-D57D-C7E4-8CBB-AA81303A6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C3F2F0-06AE-DD93-1D13-D9747D0C30C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692F0934-F9E5-15B9-29E1-A3BFC33D2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EC418-84B7-38C4-5324-9276594A63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71058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D338-B0CF-7567-D84E-A990F015A9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4C8BD-23E0-3D1A-F74F-65F62F165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EAF10-C048-774D-FAB9-ECBD46665AE4}"/>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3F9093B2-DA37-77F5-A076-FC7A3B2B2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BDD94-664A-3523-7E79-8D7FC2BC986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208933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59ED2-E01B-DB3A-9EC2-4BCB3F4F6B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2504DE-0D5C-F8C4-2ADA-20DDE6396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ADCF3-BCD5-89EF-2E75-805085E7EE0F}"/>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10595A05-0C90-E908-5B88-E26E6C249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01E78-0BBD-7B63-E74F-B9769929329C}"/>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30155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F78D73-1D3E-9874-D40E-7F8C2E9F19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CFFA1-5BF4-0B98-CD1D-9B7E2EF5B5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2C092-5704-2312-AD46-859F84D134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64E8C68A-3471-88E5-DC24-E15826DA90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ECDAA8-3125-D778-CDEB-C1369AEC2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789F5-F626-42C6-B915-664D7C5E39D2}" type="slidenum">
              <a:rPr lang="en-US" smtClean="0"/>
              <a:t>‹#›</a:t>
            </a:fld>
            <a:endParaRPr lang="en-US"/>
          </a:p>
        </p:txBody>
      </p:sp>
    </p:spTree>
    <p:extLst>
      <p:ext uri="{BB962C8B-B14F-4D97-AF65-F5344CB8AC3E}">
        <p14:creationId xmlns:p14="http://schemas.microsoft.com/office/powerpoint/2010/main" val="1914171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MupsaVTT6i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F6BB-219F-B772-63E6-440FFEC1E628}"/>
              </a:ext>
            </a:extLst>
          </p:cNvPr>
          <p:cNvSpPr>
            <a:spLocks noGrp="1"/>
          </p:cNvSpPr>
          <p:nvPr>
            <p:ph type="ctrTitle"/>
          </p:nvPr>
        </p:nvSpPr>
        <p:spPr>
          <a:xfrm>
            <a:off x="1524000" y="927629"/>
            <a:ext cx="9144000" cy="2387600"/>
          </a:xfrm>
        </p:spPr>
        <p:txBody>
          <a:bodyPr/>
          <a:lstStyle/>
          <a:p>
            <a:r>
              <a:rPr lang="en-US" dirty="0"/>
              <a:t>ELE419 </a:t>
            </a:r>
            <a:br>
              <a:rPr lang="en-US" dirty="0"/>
            </a:br>
            <a:r>
              <a:rPr lang="en-US" dirty="0"/>
              <a:t>IC Design Project</a:t>
            </a:r>
          </a:p>
        </p:txBody>
      </p:sp>
      <p:sp>
        <p:nvSpPr>
          <p:cNvPr id="3" name="Subtitle 2">
            <a:extLst>
              <a:ext uri="{FF2B5EF4-FFF2-40B4-BE49-F238E27FC236}">
                <a16:creationId xmlns:a16="http://schemas.microsoft.com/office/drawing/2014/main" id="{B92CEE88-DE5B-A410-D7DF-9F9285BC8465}"/>
              </a:ext>
            </a:extLst>
          </p:cNvPr>
          <p:cNvSpPr>
            <a:spLocks noGrp="1"/>
          </p:cNvSpPr>
          <p:nvPr>
            <p:ph type="subTitle" idx="1"/>
          </p:nvPr>
        </p:nvSpPr>
        <p:spPr>
          <a:xfrm>
            <a:off x="1524000" y="3732740"/>
            <a:ext cx="9144000" cy="1867430"/>
          </a:xfrm>
        </p:spPr>
        <p:txBody>
          <a:bodyPr>
            <a:normAutofit fontScale="85000" lnSpcReduction="20000"/>
          </a:bodyPr>
          <a:lstStyle/>
          <a:p>
            <a:r>
              <a:rPr lang="en-US" sz="3200" b="1" dirty="0"/>
              <a:t>Physical VLSI </a:t>
            </a:r>
            <a:r>
              <a:rPr lang="tr-TR" sz="3200" b="1" dirty="0"/>
              <a:t>D</a:t>
            </a:r>
            <a:r>
              <a:rPr lang="en-US" sz="3200" b="1" dirty="0" err="1"/>
              <a:t>esign</a:t>
            </a:r>
            <a:r>
              <a:rPr lang="en-US" sz="3200" b="1" dirty="0"/>
              <a:t> of 8-bit ALU with Extended Opcode Set</a:t>
            </a:r>
            <a:endParaRPr lang="tr-TR" sz="3200" b="1" dirty="0"/>
          </a:p>
          <a:p>
            <a:endParaRPr lang="en-US" sz="3200" b="1" dirty="0"/>
          </a:p>
          <a:p>
            <a:r>
              <a:rPr lang="tr-TR" sz="3000" dirty="0"/>
              <a:t>BETÜL ATALAY</a:t>
            </a:r>
            <a:br>
              <a:rPr lang="en-US" sz="3000" dirty="0">
                <a:solidFill>
                  <a:srgbClr val="FF0000"/>
                </a:solidFill>
              </a:rPr>
            </a:br>
            <a:r>
              <a:rPr lang="tr-TR" sz="3000" dirty="0"/>
              <a:t>2210357078</a:t>
            </a:r>
            <a:endParaRPr lang="en-US" sz="3000" dirty="0">
              <a:solidFill>
                <a:srgbClr val="FF0000"/>
              </a:solidFill>
            </a:endParaRPr>
          </a:p>
        </p:txBody>
      </p:sp>
    </p:spTree>
    <p:extLst>
      <p:ext uri="{BB962C8B-B14F-4D97-AF65-F5344CB8AC3E}">
        <p14:creationId xmlns:p14="http://schemas.microsoft.com/office/powerpoint/2010/main" val="287659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1B77-999E-8F95-6DA8-B2D546F384E4}"/>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C1BA2707-5AB8-C68C-250D-A720EA617005}"/>
              </a:ext>
            </a:extLst>
          </p:cNvPr>
          <p:cNvSpPr>
            <a:spLocks noGrp="1"/>
          </p:cNvSpPr>
          <p:nvPr>
            <p:ph idx="1"/>
          </p:nvPr>
        </p:nvSpPr>
        <p:spPr>
          <a:xfrm>
            <a:off x="838200" y="1690688"/>
            <a:ext cx="10515600" cy="4351338"/>
          </a:xfrm>
        </p:spPr>
        <p:txBody>
          <a:bodyPr>
            <a:normAutofit/>
          </a:bodyPr>
          <a:lstStyle/>
          <a:p>
            <a:pPr marL="0" indent="0">
              <a:buNone/>
            </a:pPr>
            <a:r>
              <a:rPr lang="en-US" sz="2000" dirty="0"/>
              <a:t>For the </a:t>
            </a:r>
            <a:r>
              <a:rPr lang="en-US" sz="2000" b="1" dirty="0"/>
              <a:t>shift operations</a:t>
            </a:r>
            <a:r>
              <a:rPr lang="en-US" sz="2000" dirty="0"/>
              <a:t> in a transistor-level (CMOS) ALU, the “just wire it” approach that is common in HDL is not sufficient, because the shift must be selectable by opcode and must drive a real load without creating contention. In CMOS, a controlled shift is typically implemented using a multiplexer network / barrel shifter, or with transmission gates plus inverters/buffers to restore logic levels, manage fan-out, and prevent floating nodes. Also, </a:t>
            </a:r>
            <a:r>
              <a:rPr lang="en-US" sz="2000" dirty="0" err="1"/>
              <a:t>LTspice</a:t>
            </a:r>
            <a:r>
              <a:rPr lang="en-US" sz="2000" dirty="0"/>
              <a:t> is an analog SPICE simulator, so it does not provide a built-in “shift operator” like a digital HDL; therefore, the shift function must be realized structurally (MUX/TG/buffers) rather than by an abstract operator. In my design, I implemented all logical and arithmetic shifts using buffer-driven, opcode-controlled routing, so the shifted outputs are full-swing and robust for the next stages of the ALU. </a:t>
            </a:r>
            <a:r>
              <a:rPr lang="en-US" sz="2000" b="1" dirty="0"/>
              <a:t>[1], [2], [3]</a:t>
            </a:r>
            <a:r>
              <a:rPr lang="tr-TR" sz="2000" b="1" dirty="0"/>
              <a:t>.</a:t>
            </a:r>
            <a:endParaRPr lang="en-US" sz="2000" dirty="0"/>
          </a:p>
        </p:txBody>
      </p:sp>
    </p:spTree>
    <p:extLst>
      <p:ext uri="{BB962C8B-B14F-4D97-AF65-F5344CB8AC3E}">
        <p14:creationId xmlns:p14="http://schemas.microsoft.com/office/powerpoint/2010/main" val="3634297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537ED-3326-6C65-7905-D1049B495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BA5E6-215C-F578-36B7-D97B287EFF07}"/>
              </a:ext>
            </a:extLst>
          </p:cNvPr>
          <p:cNvSpPr>
            <a:spLocks noGrp="1"/>
          </p:cNvSpPr>
          <p:nvPr>
            <p:ph type="title"/>
          </p:nvPr>
        </p:nvSpPr>
        <p:spPr/>
        <p:txBody>
          <a:bodyPr/>
          <a:lstStyle/>
          <a:p>
            <a:r>
              <a:rPr lang="en-US" dirty="0"/>
              <a:t>Literature Review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D6855A-A884-60A3-4652-8F1005F576C2}"/>
                  </a:ext>
                </a:extLst>
              </p:cNvPr>
              <p:cNvSpPr>
                <a:spLocks noGrp="1"/>
              </p:cNvSpPr>
              <p:nvPr>
                <p:ph idx="1"/>
              </p:nvPr>
            </p:nvSpPr>
            <p:spPr>
              <a:xfrm>
                <a:off x="838200" y="1572154"/>
                <a:ext cx="10515600" cy="2703512"/>
              </a:xfrm>
            </p:spPr>
            <p:txBody>
              <a:bodyPr>
                <a:normAutofit/>
              </a:bodyPr>
              <a:lstStyle/>
              <a:p>
                <a:pPr marL="0" indent="0">
                  <a:buNone/>
                </a:pPr>
                <a:r>
                  <a:rPr lang="tr-TR" sz="2000" dirty="0" err="1"/>
                  <a:t>For</a:t>
                </a:r>
                <a:r>
                  <a:rPr lang="tr-TR" sz="2000" dirty="0"/>
                  <a:t> </a:t>
                </a:r>
                <a:r>
                  <a:rPr lang="tr-TR" sz="2000" dirty="0" err="1"/>
                  <a:t>the</a:t>
                </a:r>
                <a:r>
                  <a:rPr lang="tr-TR" sz="2000" dirty="0"/>
                  <a:t> </a:t>
                </a:r>
                <a:r>
                  <a:rPr lang="tr-TR" sz="2000" b="1" dirty="0" err="1"/>
                  <a:t>subtractor</a:t>
                </a:r>
                <a:r>
                  <a:rPr lang="tr-TR" sz="2000" dirty="0"/>
                  <a:t>, I </a:t>
                </a:r>
                <a:r>
                  <a:rPr lang="tr-TR" sz="2000" dirty="0" err="1"/>
                  <a:t>used</a:t>
                </a:r>
                <a:r>
                  <a:rPr lang="tr-TR" sz="2000" dirty="0"/>
                  <a:t> </a:t>
                </a:r>
                <a:r>
                  <a:rPr lang="tr-TR" sz="2000" dirty="0" err="1"/>
                  <a:t>the</a:t>
                </a:r>
                <a:r>
                  <a:rPr lang="tr-TR" sz="2000" dirty="0"/>
                  <a:t> </a:t>
                </a:r>
                <a:r>
                  <a:rPr lang="tr-TR" sz="2000" dirty="0" err="1"/>
                  <a:t>standard</a:t>
                </a:r>
                <a:r>
                  <a:rPr lang="tr-TR" sz="2000" dirty="0"/>
                  <a:t> </a:t>
                </a:r>
                <a:r>
                  <a:rPr lang="tr-TR" sz="2000" dirty="0" err="1"/>
                  <a:t>two’s-complement</a:t>
                </a:r>
                <a:r>
                  <a:rPr lang="tr-TR" sz="2000" dirty="0"/>
                  <a:t> </a:t>
                </a:r>
                <a:r>
                  <a:rPr lang="tr-TR" sz="2000" dirty="0" err="1"/>
                  <a:t>identity</a:t>
                </a:r>
                <a:r>
                  <a:rPr lang="tr-TR" sz="2000" dirty="0"/>
                  <a:t> </a:t>
                </a:r>
                <a:r>
                  <a:rPr lang="tr-TR" sz="2000" dirty="0" err="1"/>
                  <a:t>that</a:t>
                </a:r>
                <a:r>
                  <a:rPr lang="tr-TR" sz="2000" dirty="0"/>
                  <a:t> </a:t>
                </a:r>
                <a:r>
                  <a:rPr lang="tr-TR" sz="2000" dirty="0" err="1"/>
                  <a:t>turns</a:t>
                </a:r>
                <a:r>
                  <a:rPr lang="tr-TR" sz="2000" dirty="0"/>
                  <a:t> </a:t>
                </a:r>
                <a:r>
                  <a:rPr lang="tr-TR" sz="2000" dirty="0" err="1"/>
                  <a:t>subtraction</a:t>
                </a:r>
                <a:r>
                  <a:rPr lang="tr-TR" sz="2000" dirty="0"/>
                  <a:t> </a:t>
                </a:r>
                <a:r>
                  <a:rPr lang="tr-TR" sz="2000" dirty="0" err="1"/>
                  <a:t>into</a:t>
                </a:r>
                <a:r>
                  <a:rPr lang="tr-TR" sz="2000" dirty="0"/>
                  <a:t> </a:t>
                </a:r>
                <a:r>
                  <a:rPr lang="tr-TR" sz="2000" dirty="0" err="1"/>
                  <a:t>addition</a:t>
                </a:r>
                <a:r>
                  <a:rPr lang="tr-TR" sz="2000" dirty="0"/>
                  <a:t>:</a:t>
                </a:r>
                <a:endParaRPr lang="tr-TR" sz="1600" dirty="0"/>
              </a:p>
              <a:p>
                <a:pPr marL="0" indent="0">
                  <a:buNone/>
                </a:pPr>
                <a14:m>
                  <m:oMathPara xmlns:m="http://schemas.openxmlformats.org/officeDocument/2006/math">
                    <m:oMathParaPr>
                      <m:jc m:val="centerGroup"/>
                    </m:oMathParaPr>
                    <m:oMath xmlns:m="http://schemas.openxmlformats.org/officeDocument/2006/math">
                      <m:r>
                        <a:rPr lang="tr-TR" sz="2000" b="0" i="1" smtClean="0">
                          <a:latin typeface="Cambria Math" panose="02040503050406030204" pitchFamily="18" charset="0"/>
                        </a:rPr>
                        <m:t>𝐴</m:t>
                      </m:r>
                      <m:r>
                        <a:rPr lang="tr-TR" sz="2000" b="0" smtClean="0">
                          <a:latin typeface="Cambria Math" panose="02040503050406030204" pitchFamily="18" charset="0"/>
                        </a:rPr>
                        <m:t>−</m:t>
                      </m:r>
                      <m:r>
                        <a:rPr lang="tr-TR" sz="2000" b="0" i="1" smtClean="0">
                          <a:latin typeface="Cambria Math" panose="02040503050406030204" pitchFamily="18" charset="0"/>
                        </a:rPr>
                        <m:t>𝐵</m:t>
                      </m:r>
                      <m:r>
                        <m:rPr>
                          <m:nor/>
                        </m:rPr>
                        <a:rPr lang="tr-TR" sz="2000" i="1"/>
                        <m:t>  </m:t>
                      </m:r>
                      <m:r>
                        <a:rPr lang="tr-TR" sz="2000" b="0" smtClean="0">
                          <a:latin typeface="Cambria Math" panose="02040503050406030204" pitchFamily="18" charset="0"/>
                        </a:rPr>
                        <m:t>=</m:t>
                      </m:r>
                      <m:r>
                        <m:rPr>
                          <m:nor/>
                        </m:rPr>
                        <a:rPr lang="tr-TR" sz="2000" i="1"/>
                        <m:t>  </m:t>
                      </m:r>
                      <m:r>
                        <a:rPr lang="tr-TR" sz="2000" b="0" i="1" smtClean="0">
                          <a:latin typeface="Cambria Math" panose="02040503050406030204" pitchFamily="18" charset="0"/>
                        </a:rPr>
                        <m:t>𝐴</m:t>
                      </m:r>
                      <m:r>
                        <a:rPr lang="tr-TR" sz="2000" b="0" smtClean="0">
                          <a:latin typeface="Cambria Math" panose="02040503050406030204" pitchFamily="18" charset="0"/>
                        </a:rPr>
                        <m:t>+</m:t>
                      </m:r>
                      <m:d>
                        <m:dPr>
                          <m:ctrlPr>
                            <a:rPr lang="ar-AE" sz="2000" i="1">
                              <a:latin typeface="Cambria Math" panose="02040503050406030204" pitchFamily="18" charset="0"/>
                            </a:rPr>
                          </m:ctrlPr>
                        </m:dPr>
                        <m:e>
                          <m:r>
                            <a:rPr lang="ar-AE" sz="2000" b="0" smtClean="0">
                              <a:latin typeface="Cambria Math" panose="02040503050406030204" pitchFamily="18" charset="0"/>
                            </a:rPr>
                            <m:t>∼</m:t>
                          </m:r>
                          <m:r>
                            <a:rPr lang="ar-AE" sz="2000" b="0" i="1" smtClean="0">
                              <a:latin typeface="Cambria Math" panose="02040503050406030204" pitchFamily="18" charset="0"/>
                            </a:rPr>
                            <m:t>𝐵</m:t>
                          </m:r>
                        </m:e>
                      </m:d>
                      <m:r>
                        <a:rPr lang="ar-AE" sz="2000" b="0" smtClean="0">
                          <a:latin typeface="Cambria Math" panose="02040503050406030204" pitchFamily="18" charset="0"/>
                        </a:rPr>
                        <m:t>+</m:t>
                      </m:r>
                      <m:r>
                        <a:rPr lang="ar-AE" sz="2000" b="0" i="1" smtClean="0">
                          <a:latin typeface="Cambria Math" panose="02040503050406030204" pitchFamily="18" charset="0"/>
                        </a:rPr>
                        <m:t>1</m:t>
                      </m:r>
                    </m:oMath>
                  </m:oMathPara>
                </a14:m>
                <a:endParaRPr lang="ar-AE" sz="1600" dirty="0"/>
              </a:p>
              <a:p>
                <a:pPr marL="0" indent="0">
                  <a:buNone/>
                </a:pPr>
                <a:r>
                  <a:rPr lang="tr-TR" sz="2000" dirty="0" err="1"/>
                  <a:t>This</a:t>
                </a:r>
                <a:r>
                  <a:rPr lang="tr-TR" sz="2000" dirty="0"/>
                  <a:t> is </a:t>
                </a:r>
                <a:r>
                  <a:rPr lang="tr-TR" sz="2000" dirty="0" err="1"/>
                  <a:t>implemented</a:t>
                </a:r>
                <a:r>
                  <a:rPr lang="tr-TR" sz="2000" dirty="0"/>
                  <a:t> </a:t>
                </a:r>
                <a:r>
                  <a:rPr lang="tr-TR" sz="2000" dirty="0" err="1"/>
                  <a:t>by</a:t>
                </a:r>
                <a:r>
                  <a:rPr lang="tr-TR" sz="2000" dirty="0"/>
                  <a:t> </a:t>
                </a:r>
                <a:r>
                  <a:rPr lang="tr-TR" sz="2000" dirty="0" err="1"/>
                  <a:t>conditionally</a:t>
                </a:r>
                <a:r>
                  <a:rPr lang="tr-TR" sz="2000" dirty="0"/>
                  <a:t> </a:t>
                </a:r>
                <a:r>
                  <a:rPr lang="tr-TR" sz="2000" dirty="0" err="1"/>
                  <a:t>inverting</a:t>
                </a:r>
                <a:r>
                  <a:rPr lang="tr-TR" sz="2000" dirty="0"/>
                  <a:t> </a:t>
                </a:r>
                <a14:m>
                  <m:oMath xmlns:m="http://schemas.openxmlformats.org/officeDocument/2006/math">
                    <m:r>
                      <a:rPr lang="tr-TR" sz="2000" b="0" i="1" smtClean="0">
                        <a:latin typeface="Cambria Math" panose="02040503050406030204" pitchFamily="18" charset="0"/>
                      </a:rPr>
                      <m:t>𝐵</m:t>
                    </m:r>
                  </m:oMath>
                </a14:m>
                <a:r>
                  <a:rPr lang="tr-TR" sz="2000" dirty="0" err="1"/>
                  <a:t>and</a:t>
                </a:r>
                <a:r>
                  <a:rPr lang="tr-TR" sz="2000" dirty="0"/>
                  <a:t> </a:t>
                </a:r>
                <a:r>
                  <a:rPr lang="tr-TR" sz="2000" dirty="0" err="1"/>
                  <a:t>forcing</a:t>
                </a:r>
                <a:r>
                  <a:rPr lang="tr-TR" sz="2000" dirty="0"/>
                  <a:t> </a:t>
                </a:r>
                <a14:m>
                  <m:oMath xmlns:m="http://schemas.openxmlformats.org/officeDocument/2006/math">
                    <m:sSub>
                      <m:sSubPr>
                        <m:ctrlPr>
                          <a:rPr lang="ar-AE" sz="2000" i="1">
                            <a:latin typeface="Cambria Math" panose="02040503050406030204" pitchFamily="18" charset="0"/>
                          </a:rPr>
                        </m:ctrlPr>
                      </m:sSubPr>
                      <m:e>
                        <m:r>
                          <a:rPr lang="ar-AE" sz="2000" b="0" i="1" smtClean="0">
                            <a:latin typeface="Cambria Math" panose="02040503050406030204" pitchFamily="18" charset="0"/>
                          </a:rPr>
                          <m:t>𝐶</m:t>
                        </m:r>
                      </m:e>
                      <m:sub>
                        <m:r>
                          <a:rPr lang="ar-AE" sz="2000" b="0" i="1" smtClean="0">
                            <a:latin typeface="Cambria Math" panose="02040503050406030204" pitchFamily="18" charset="0"/>
                          </a:rPr>
                          <m:t>𝑖𝑛</m:t>
                        </m:r>
                      </m:sub>
                    </m:sSub>
                    <m:r>
                      <a:rPr lang="ar-AE" sz="2000" b="0" smtClean="0">
                        <a:latin typeface="Cambria Math" panose="02040503050406030204" pitchFamily="18" charset="0"/>
                      </a:rPr>
                      <m:t>=</m:t>
                    </m:r>
                    <m:r>
                      <a:rPr lang="ar-AE" sz="2000" b="0" i="1" smtClean="0">
                        <a:latin typeface="Cambria Math" panose="02040503050406030204" pitchFamily="18" charset="0"/>
                      </a:rPr>
                      <m:t>1</m:t>
                    </m:r>
                  </m:oMath>
                </a14:m>
                <a:r>
                  <a:rPr lang="tr-TR" sz="2000" dirty="0"/>
                  <a:t> </a:t>
                </a:r>
                <a:r>
                  <a:rPr lang="tr-TR" sz="2000" dirty="0" err="1"/>
                  <a:t>for</a:t>
                </a:r>
                <a:r>
                  <a:rPr lang="tr-TR" sz="2000" dirty="0"/>
                  <a:t> </a:t>
                </a:r>
                <a:r>
                  <a:rPr lang="tr-TR" sz="2000" dirty="0" err="1"/>
                  <a:t>the</a:t>
                </a:r>
                <a:r>
                  <a:rPr lang="tr-TR" sz="2000" dirty="0"/>
                  <a:t> </a:t>
                </a:r>
                <a:r>
                  <a:rPr lang="tr-TR" sz="2000" dirty="0" err="1"/>
                  <a:t>subtraction</a:t>
                </a:r>
                <a:r>
                  <a:rPr lang="tr-TR" sz="2000" dirty="0"/>
                  <a:t> </a:t>
                </a:r>
                <a:r>
                  <a:rPr lang="tr-TR" sz="2000" dirty="0" err="1"/>
                  <a:t>opcode</a:t>
                </a:r>
                <a:r>
                  <a:rPr lang="tr-TR" sz="2000" dirty="0"/>
                  <a:t>, </a:t>
                </a:r>
                <a:r>
                  <a:rPr lang="tr-TR" sz="2000" dirty="0" err="1"/>
                  <a:t>allowing</a:t>
                </a:r>
                <a:r>
                  <a:rPr lang="tr-TR" sz="2000" dirty="0"/>
                  <a:t> </a:t>
                </a:r>
                <a:r>
                  <a:rPr lang="tr-TR" sz="2000" dirty="0" err="1"/>
                  <a:t>reuse</a:t>
                </a:r>
                <a:r>
                  <a:rPr lang="tr-TR" sz="2000" dirty="0"/>
                  <a:t> of </a:t>
                </a:r>
                <a:r>
                  <a:rPr lang="tr-TR" sz="2000" dirty="0" err="1"/>
                  <a:t>the</a:t>
                </a:r>
                <a:r>
                  <a:rPr lang="tr-TR" sz="2000" dirty="0"/>
                  <a:t> </a:t>
                </a:r>
                <a:r>
                  <a:rPr lang="tr-TR" sz="2000" dirty="0" err="1"/>
                  <a:t>same</a:t>
                </a:r>
                <a:r>
                  <a:rPr lang="tr-TR" sz="2000" dirty="0"/>
                  <a:t> </a:t>
                </a:r>
                <a:r>
                  <a:rPr lang="tr-TR" sz="2000" dirty="0" err="1"/>
                  <a:t>adder</a:t>
                </a:r>
                <a:r>
                  <a:rPr lang="tr-TR" sz="2000" dirty="0"/>
                  <a:t> </a:t>
                </a:r>
                <a:r>
                  <a:rPr lang="tr-TR" sz="2000" dirty="0" err="1"/>
                  <a:t>chain</a:t>
                </a:r>
                <a:r>
                  <a:rPr lang="tr-TR" sz="2000" dirty="0"/>
                  <a:t> </a:t>
                </a:r>
                <a:r>
                  <a:rPr lang="tr-TR" sz="2000" dirty="0" err="1"/>
                  <a:t>used</a:t>
                </a:r>
                <a:r>
                  <a:rPr lang="tr-TR" sz="2000" dirty="0"/>
                  <a:t> </a:t>
                </a:r>
                <a:r>
                  <a:rPr lang="tr-TR" sz="2000" dirty="0" err="1"/>
                  <a:t>for</a:t>
                </a:r>
                <a:r>
                  <a:rPr lang="tr-TR" sz="1600" dirty="0"/>
                  <a:t> </a:t>
                </a:r>
                <a14:m>
                  <m:oMath xmlns:m="http://schemas.openxmlformats.org/officeDocument/2006/math">
                    <m:r>
                      <a:rPr lang="tr-TR" sz="2000" b="0" i="1" smtClean="0">
                        <a:latin typeface="Cambria Math" panose="02040503050406030204" pitchFamily="18" charset="0"/>
                      </a:rPr>
                      <m:t>𝐴</m:t>
                    </m:r>
                    <m:r>
                      <a:rPr lang="tr-TR" sz="2000" b="0" smtClean="0">
                        <a:latin typeface="Cambria Math" panose="02040503050406030204" pitchFamily="18" charset="0"/>
                      </a:rPr>
                      <m:t>+</m:t>
                    </m:r>
                    <m:r>
                      <a:rPr lang="tr-TR" sz="2000" b="0" i="1" smtClean="0">
                        <a:latin typeface="Cambria Math" panose="02040503050406030204" pitchFamily="18" charset="0"/>
                      </a:rPr>
                      <m:t>𝐵</m:t>
                    </m:r>
                  </m:oMath>
                </a14:m>
                <a:r>
                  <a:rPr lang="tr-TR" sz="2000" dirty="0"/>
                  <a:t>. </a:t>
                </a:r>
                <a:r>
                  <a:rPr lang="tr-TR" sz="2000" dirty="0" err="1"/>
                  <a:t>This</a:t>
                </a:r>
                <a:r>
                  <a:rPr lang="tr-TR" sz="2000" dirty="0"/>
                  <a:t> </a:t>
                </a:r>
                <a:r>
                  <a:rPr lang="tr-TR" sz="2000" dirty="0" err="1"/>
                  <a:t>approach</a:t>
                </a:r>
                <a:r>
                  <a:rPr lang="tr-TR" sz="2000" dirty="0"/>
                  <a:t> is </a:t>
                </a:r>
                <a:r>
                  <a:rPr lang="tr-TR" sz="2000" dirty="0" err="1"/>
                  <a:t>widely</a:t>
                </a:r>
                <a:r>
                  <a:rPr lang="tr-TR" sz="2000" dirty="0"/>
                  <a:t> </a:t>
                </a:r>
                <a:r>
                  <a:rPr lang="tr-TR" sz="2000" dirty="0" err="1"/>
                  <a:t>presented</a:t>
                </a:r>
                <a:r>
                  <a:rPr lang="tr-TR" sz="2000" dirty="0"/>
                  <a:t> in </a:t>
                </a:r>
                <a:r>
                  <a:rPr lang="tr-TR" sz="2000" dirty="0" err="1"/>
                  <a:t>digital</a:t>
                </a:r>
                <a:r>
                  <a:rPr lang="tr-TR" sz="2000" dirty="0"/>
                  <a:t> </a:t>
                </a:r>
                <a:r>
                  <a:rPr lang="tr-TR" sz="2000" dirty="0" err="1"/>
                  <a:t>design</a:t>
                </a:r>
                <a:r>
                  <a:rPr lang="tr-TR" sz="2000" dirty="0"/>
                  <a:t> </a:t>
                </a:r>
                <a:r>
                  <a:rPr lang="tr-TR" sz="2000" dirty="0" err="1"/>
                  <a:t>literature</a:t>
                </a:r>
                <a:r>
                  <a:rPr lang="tr-TR" sz="2000" dirty="0"/>
                  <a:t> </a:t>
                </a:r>
                <a:r>
                  <a:rPr lang="tr-TR" sz="2000" dirty="0" err="1"/>
                  <a:t>because</a:t>
                </a:r>
                <a:r>
                  <a:rPr lang="tr-TR" sz="2000" dirty="0"/>
                  <a:t> it </a:t>
                </a:r>
                <a:r>
                  <a:rPr lang="tr-TR" sz="2000" dirty="0" err="1"/>
                  <a:t>minimizes</a:t>
                </a:r>
                <a:r>
                  <a:rPr lang="tr-TR" sz="2000" dirty="0"/>
                  <a:t> hardware </a:t>
                </a:r>
                <a:r>
                  <a:rPr lang="tr-TR" sz="2000" dirty="0" err="1"/>
                  <a:t>by</a:t>
                </a:r>
                <a:r>
                  <a:rPr lang="tr-TR" sz="2000" dirty="0"/>
                  <a:t> </a:t>
                </a:r>
                <a:r>
                  <a:rPr lang="tr-TR" sz="2000" dirty="0" err="1"/>
                  <a:t>sharing</a:t>
                </a:r>
                <a:r>
                  <a:rPr lang="tr-TR" sz="2000" dirty="0"/>
                  <a:t> </a:t>
                </a:r>
                <a:r>
                  <a:rPr lang="tr-TR" sz="2000" dirty="0" err="1"/>
                  <a:t>the</a:t>
                </a:r>
                <a:r>
                  <a:rPr lang="tr-TR" sz="2000" dirty="0"/>
                  <a:t> </a:t>
                </a:r>
                <a:r>
                  <a:rPr lang="tr-TR" sz="2000" dirty="0" err="1"/>
                  <a:t>ripple-carry</a:t>
                </a:r>
                <a:r>
                  <a:rPr lang="tr-TR" sz="2000" dirty="0"/>
                  <a:t> (</a:t>
                </a:r>
                <a:r>
                  <a:rPr lang="tr-TR" sz="2000" dirty="0" err="1"/>
                  <a:t>or</a:t>
                </a:r>
                <a:r>
                  <a:rPr lang="tr-TR" sz="2000" dirty="0"/>
                  <a:t> </a:t>
                </a:r>
                <a:r>
                  <a:rPr lang="tr-TR" sz="2000" dirty="0" err="1"/>
                  <a:t>other</a:t>
                </a:r>
                <a:r>
                  <a:rPr lang="tr-TR" sz="2000" dirty="0"/>
                  <a:t>) </a:t>
                </a:r>
                <a:r>
                  <a:rPr lang="tr-TR" sz="2000" dirty="0" err="1"/>
                  <a:t>adder</a:t>
                </a:r>
                <a:r>
                  <a:rPr lang="tr-TR" sz="2000" dirty="0"/>
                  <a:t> </a:t>
                </a:r>
                <a:r>
                  <a:rPr lang="tr-TR" sz="2000" dirty="0" err="1"/>
                  <a:t>structure</a:t>
                </a:r>
                <a:r>
                  <a:rPr lang="tr-TR" sz="2000" dirty="0"/>
                  <a:t> </a:t>
                </a:r>
                <a:r>
                  <a:rPr lang="tr-TR" sz="2000" dirty="0" err="1"/>
                  <a:t>across</a:t>
                </a:r>
                <a:r>
                  <a:rPr lang="tr-TR" sz="2000" dirty="0"/>
                  <a:t> </a:t>
                </a:r>
                <a:r>
                  <a:rPr lang="tr-TR" sz="2000" dirty="0" err="1"/>
                  <a:t>both</a:t>
                </a:r>
                <a:r>
                  <a:rPr lang="tr-TR" sz="2000" dirty="0"/>
                  <a:t> </a:t>
                </a:r>
                <a:r>
                  <a:rPr lang="tr-TR" sz="2000" dirty="0" err="1"/>
                  <a:t>add</a:t>
                </a:r>
                <a:r>
                  <a:rPr lang="tr-TR" sz="2000" dirty="0"/>
                  <a:t> </a:t>
                </a:r>
                <a:r>
                  <a:rPr lang="tr-TR" sz="2000" dirty="0" err="1"/>
                  <a:t>and</a:t>
                </a:r>
                <a:r>
                  <a:rPr lang="tr-TR" sz="2000" dirty="0"/>
                  <a:t> </a:t>
                </a:r>
                <a:r>
                  <a:rPr lang="tr-TR" sz="2000" dirty="0" err="1"/>
                  <a:t>subtract</a:t>
                </a:r>
                <a:r>
                  <a:rPr lang="tr-TR" sz="2000" dirty="0"/>
                  <a:t> </a:t>
                </a:r>
                <a:r>
                  <a:rPr lang="tr-TR" sz="2000" dirty="0" err="1"/>
                  <a:t>operations</a:t>
                </a:r>
                <a:r>
                  <a:rPr lang="tr-TR" sz="2000" dirty="0"/>
                  <a:t>. </a:t>
                </a:r>
                <a:r>
                  <a:rPr lang="tr-TR" sz="2000" b="1" dirty="0"/>
                  <a:t>[4], [5]</a:t>
                </a:r>
                <a:endParaRPr lang="tr-TR" sz="2000" dirty="0"/>
              </a:p>
            </p:txBody>
          </p:sp>
        </mc:Choice>
        <mc:Fallback xmlns="">
          <p:sp>
            <p:nvSpPr>
              <p:cNvPr id="3" name="Content Placeholder 2">
                <a:extLst>
                  <a:ext uri="{FF2B5EF4-FFF2-40B4-BE49-F238E27FC236}">
                    <a16:creationId xmlns:a16="http://schemas.microsoft.com/office/drawing/2014/main" id="{B3D6855A-A884-60A3-4652-8F1005F576C2}"/>
                  </a:ext>
                </a:extLst>
              </p:cNvPr>
              <p:cNvSpPr>
                <a:spLocks noGrp="1" noRot="1" noChangeAspect="1" noMove="1" noResize="1" noEditPoints="1" noAdjustHandles="1" noChangeArrowheads="1" noChangeShapeType="1" noTextEdit="1"/>
              </p:cNvSpPr>
              <p:nvPr>
                <p:ph idx="1"/>
              </p:nvPr>
            </p:nvSpPr>
            <p:spPr>
              <a:xfrm>
                <a:off x="838200" y="1572154"/>
                <a:ext cx="10515600" cy="2703512"/>
              </a:xfrm>
              <a:blipFill>
                <a:blip r:embed="rId2"/>
                <a:stretch>
                  <a:fillRect l="-638" t="-2257" r="-754"/>
                </a:stretch>
              </a:blipFill>
            </p:spPr>
            <p:txBody>
              <a:bodyPr/>
              <a:lstStyle/>
              <a:p>
                <a:r>
                  <a:rPr lang="tr-TR">
                    <a:noFill/>
                  </a:rPr>
                  <a:t> </a:t>
                </a:r>
              </a:p>
            </p:txBody>
          </p:sp>
        </mc:Fallback>
      </mc:AlternateContent>
    </p:spTree>
    <p:extLst>
      <p:ext uri="{BB962C8B-B14F-4D97-AF65-F5344CB8AC3E}">
        <p14:creationId xmlns:p14="http://schemas.microsoft.com/office/powerpoint/2010/main" val="3579355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B70CD-C1E9-70F8-D6BA-81F1C0578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002C1-EBF9-F212-9A06-0B81B9AB46D1}"/>
              </a:ext>
            </a:extLst>
          </p:cNvPr>
          <p:cNvSpPr>
            <a:spLocks noGrp="1"/>
          </p:cNvSpPr>
          <p:nvPr>
            <p:ph type="title"/>
          </p:nvPr>
        </p:nvSpPr>
        <p:spPr/>
        <p:txBody>
          <a:bodyPr/>
          <a:lstStyle/>
          <a:p>
            <a:r>
              <a:rPr lang="en-US" dirty="0"/>
              <a:t>Literature Review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E024A4-D574-31C0-E4EE-1F53F34F1AFF}"/>
                  </a:ext>
                </a:extLst>
              </p:cNvPr>
              <p:cNvSpPr>
                <a:spLocks noGrp="1"/>
              </p:cNvSpPr>
              <p:nvPr>
                <p:ph idx="1"/>
              </p:nvPr>
            </p:nvSpPr>
            <p:spPr>
              <a:xfrm>
                <a:off x="838200" y="1690688"/>
                <a:ext cx="10515600" cy="4351338"/>
              </a:xfrm>
            </p:spPr>
            <p:txBody>
              <a:bodyPr>
                <a:normAutofit/>
              </a:bodyPr>
              <a:lstStyle/>
              <a:p>
                <a:pPr marL="0" indent="0">
                  <a:buNone/>
                </a:pPr>
                <a:r>
                  <a:rPr lang="en-US" sz="2000" dirty="0"/>
                  <a:t>For the </a:t>
                </a:r>
                <a:r>
                  <a:rPr lang="en-US" sz="2000" b="1" dirty="0"/>
                  <a:t>comparator</a:t>
                </a:r>
                <a:r>
                  <a:rPr lang="en-US" sz="2000" dirty="0"/>
                  <a:t>, the common ALU method is to reuse the subtractor result </a:t>
                </a:r>
                <a14:m>
                  <m:oMath xmlns:m="http://schemas.openxmlformats.org/officeDocument/2006/math">
                    <m:r>
                      <a:rPr lang="en-US" sz="2000" b="0" i="1">
                        <a:latin typeface="Cambria Math" panose="02040503050406030204" pitchFamily="18" charset="0"/>
                      </a:rPr>
                      <m:t>𝐴</m:t>
                    </m:r>
                    <m:r>
                      <a:rPr lang="en-US" sz="2000" b="0">
                        <a:latin typeface="Cambria Math" panose="02040503050406030204" pitchFamily="18" charset="0"/>
                      </a:rPr>
                      <m:t>−</m:t>
                    </m:r>
                    <m:r>
                      <a:rPr lang="en-US" sz="2000" b="0" i="1">
                        <a:latin typeface="Cambria Math" panose="02040503050406030204" pitchFamily="18" charset="0"/>
                      </a:rPr>
                      <m:t>𝐵</m:t>
                    </m:r>
                  </m:oMath>
                </a14:m>
                <a:r>
                  <a:rPr lang="en-US" sz="2000" dirty="0"/>
                  <a:t>. Equality is detected by sending the subtractor output bits into a Zero flag, so A == B is true when </a:t>
                </a:r>
                <a14:m>
                  <m:oMath xmlns:m="http://schemas.openxmlformats.org/officeDocument/2006/math">
                    <m:r>
                      <a:rPr lang="en-US" sz="2000" b="0" i="1">
                        <a:latin typeface="Cambria Math" panose="02040503050406030204" pitchFamily="18" charset="0"/>
                      </a:rPr>
                      <m:t>𝐴</m:t>
                    </m:r>
                    <m:r>
                      <a:rPr lang="en-US" sz="2000" b="0">
                        <a:latin typeface="Cambria Math" panose="02040503050406030204" pitchFamily="18" charset="0"/>
                      </a:rPr>
                      <m:t>−</m:t>
                    </m:r>
                    <m:r>
                      <a:rPr lang="en-US" sz="2000" b="0" i="1">
                        <a:latin typeface="Cambria Math" panose="02040503050406030204" pitchFamily="18" charset="0"/>
                      </a:rPr>
                      <m:t>𝐵</m:t>
                    </m:r>
                    <m:r>
                      <a:rPr lang="en-US" sz="2000" b="0">
                        <a:latin typeface="Cambria Math" panose="02040503050406030204" pitchFamily="18" charset="0"/>
                      </a:rPr>
                      <m:t>=</m:t>
                    </m:r>
                    <m:r>
                      <a:rPr lang="en-US" sz="2000" b="0" i="1">
                        <a:latin typeface="Cambria Math" panose="02040503050406030204" pitchFamily="18" charset="0"/>
                      </a:rPr>
                      <m:t>0</m:t>
                    </m:r>
                  </m:oMath>
                </a14:m>
                <a:r>
                  <a:rPr lang="en-US" sz="2000" dirty="0"/>
                  <a:t>. For magnitude comparisons, many digital designs use the adder/subtractor’s carry/borrow behavior together with the sign/overflow interpretation in signed cases; in unsigned comparison, the subtractor’s carry/borrow information is a standard way to decide </a:t>
                </a:r>
                <a:r>
                  <a:rPr lang="tr-TR" sz="2000" dirty="0"/>
                  <a:t>  </a:t>
                </a:r>
                <a:r>
                  <a:rPr lang="en-US" sz="2000" dirty="0"/>
                  <a:t>A &lt; B vs A &gt; B without building a separate full comparator chain. This “ALU flags from subtraction” technique is a classic, resource-efficient architecture used in </a:t>
                </a:r>
                <a:r>
                  <a:rPr lang="en-US" sz="2000" dirty="0" err="1"/>
                  <a:t>datapaths</a:t>
                </a:r>
                <a:r>
                  <a:rPr lang="en-US" sz="2000" dirty="0"/>
                  <a:t>. </a:t>
                </a:r>
                <a:r>
                  <a:rPr lang="en-US" sz="2000" b="1" dirty="0"/>
                  <a:t>[1], [4], [6]</a:t>
                </a:r>
                <a:endParaRPr lang="en-US" sz="2000" dirty="0"/>
              </a:p>
            </p:txBody>
          </p:sp>
        </mc:Choice>
        <mc:Fallback xmlns="">
          <p:sp>
            <p:nvSpPr>
              <p:cNvPr id="3" name="Content Placeholder 2">
                <a:extLst>
                  <a:ext uri="{FF2B5EF4-FFF2-40B4-BE49-F238E27FC236}">
                    <a16:creationId xmlns:a16="http://schemas.microsoft.com/office/drawing/2014/main" id="{7DE024A4-D574-31C0-E4EE-1F53F34F1AFF}"/>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638" t="-1261" r="-290"/>
                </a:stretch>
              </a:blipFill>
            </p:spPr>
            <p:txBody>
              <a:bodyPr/>
              <a:lstStyle/>
              <a:p>
                <a:r>
                  <a:rPr lang="tr-TR">
                    <a:noFill/>
                  </a:rPr>
                  <a:t> </a:t>
                </a:r>
              </a:p>
            </p:txBody>
          </p:sp>
        </mc:Fallback>
      </mc:AlternateContent>
    </p:spTree>
    <p:extLst>
      <p:ext uri="{BB962C8B-B14F-4D97-AF65-F5344CB8AC3E}">
        <p14:creationId xmlns:p14="http://schemas.microsoft.com/office/powerpoint/2010/main" val="3404066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F831-40A8-740E-8F09-25BAF3592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7BCBA-63E2-0699-7EB2-240D9C77D1F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267213F9-467D-A5BC-BA04-DA023D5EFC99}"/>
              </a:ext>
            </a:extLst>
          </p:cNvPr>
          <p:cNvSpPr>
            <a:spLocks noGrp="1"/>
          </p:cNvSpPr>
          <p:nvPr>
            <p:ph idx="1"/>
          </p:nvPr>
        </p:nvSpPr>
        <p:spPr>
          <a:xfrm>
            <a:off x="838200" y="1690688"/>
            <a:ext cx="10515600" cy="4351338"/>
          </a:xfrm>
        </p:spPr>
        <p:txBody>
          <a:bodyPr>
            <a:normAutofit/>
          </a:bodyPr>
          <a:lstStyle/>
          <a:p>
            <a:pPr marL="0" indent="0">
              <a:buNone/>
            </a:pPr>
            <a:r>
              <a:rPr lang="en-US" sz="2000" dirty="0"/>
              <a:t>During this project, I also used a YouTube tutorial as a practical reference to understand </a:t>
            </a:r>
            <a:r>
              <a:rPr lang="en-US" sz="2000" b="1" dirty="0"/>
              <a:t>CMOS gate-level behavior</a:t>
            </a:r>
            <a:r>
              <a:rPr lang="en-US" sz="2000" dirty="0"/>
              <a:t> (pull-up/pull-down networks) and to validate my intuition while building the fundamental blocks. Specifically, I designed my </a:t>
            </a:r>
            <a:r>
              <a:rPr lang="en-US" sz="2000" b="1" dirty="0"/>
              <a:t>1-bit NAND, inverter, NOR, and XOR blocks</a:t>
            </a:r>
            <a:r>
              <a:rPr lang="en-US" sz="2000" dirty="0"/>
              <a:t> by following the CMOS logic principles demonstrated in that tutorial; the content helped me internalize how transistor networks realize Boolean functions and gave me a clear “design vision” that guided my later, more complex modules </a:t>
            </a:r>
            <a:r>
              <a:rPr lang="tr-TR" sz="2000" dirty="0"/>
              <a:t>.</a:t>
            </a:r>
            <a:r>
              <a:rPr lang="en-US" sz="2000" b="1" dirty="0"/>
              <a:t>[7]</a:t>
            </a:r>
            <a:endParaRPr lang="tr-TR" sz="2000" b="1" dirty="0"/>
          </a:p>
          <a:p>
            <a:pPr marL="0" indent="0">
              <a:buNone/>
            </a:pPr>
            <a:endParaRPr lang="en-US" sz="2000" dirty="0"/>
          </a:p>
        </p:txBody>
      </p:sp>
    </p:spTree>
    <p:extLst>
      <p:ext uri="{BB962C8B-B14F-4D97-AF65-F5344CB8AC3E}">
        <p14:creationId xmlns:p14="http://schemas.microsoft.com/office/powerpoint/2010/main" val="3959424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D4B5E-5126-448F-EC53-0874367C6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4E33E-9219-EAB2-9ED0-7C38A101526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946E67E5-25D5-56B9-06E7-6D217862DB9B}"/>
              </a:ext>
            </a:extLst>
          </p:cNvPr>
          <p:cNvSpPr>
            <a:spLocks noGrp="1"/>
          </p:cNvSpPr>
          <p:nvPr>
            <p:ph idx="1"/>
          </p:nvPr>
        </p:nvSpPr>
        <p:spPr>
          <a:xfrm>
            <a:off x="838200" y="1690688"/>
            <a:ext cx="10515600" cy="4351338"/>
          </a:xfrm>
        </p:spPr>
        <p:txBody>
          <a:bodyPr>
            <a:normAutofit fontScale="92500" lnSpcReduction="10000"/>
          </a:bodyPr>
          <a:lstStyle/>
          <a:p>
            <a:r>
              <a:rPr lang="tr-TR" sz="2000" dirty="0"/>
              <a:t>[1] N. H. E. </a:t>
            </a:r>
            <a:r>
              <a:rPr lang="tr-TR" sz="2000" dirty="0" err="1"/>
              <a:t>Weste</a:t>
            </a:r>
            <a:r>
              <a:rPr lang="tr-TR" sz="2000" dirty="0"/>
              <a:t> </a:t>
            </a:r>
            <a:r>
              <a:rPr lang="tr-TR" sz="2000" dirty="0" err="1"/>
              <a:t>and</a:t>
            </a:r>
            <a:r>
              <a:rPr lang="tr-TR" sz="2000" dirty="0"/>
              <a:t> D. Harris, </a:t>
            </a:r>
            <a:r>
              <a:rPr lang="tr-TR" sz="2000" i="1" dirty="0"/>
              <a:t>CMOS VLSI Design: A </a:t>
            </a:r>
            <a:r>
              <a:rPr lang="tr-TR" sz="2000" i="1" dirty="0" err="1"/>
              <a:t>Circuits</a:t>
            </a:r>
            <a:r>
              <a:rPr lang="tr-TR" sz="2000" i="1" dirty="0"/>
              <a:t> </a:t>
            </a:r>
            <a:r>
              <a:rPr lang="tr-TR" sz="2000" i="1" dirty="0" err="1"/>
              <a:t>and</a:t>
            </a:r>
            <a:r>
              <a:rPr lang="tr-TR" sz="2000" i="1" dirty="0"/>
              <a:t> </a:t>
            </a:r>
            <a:r>
              <a:rPr lang="tr-TR" sz="2000" i="1" dirty="0" err="1"/>
              <a:t>Systems</a:t>
            </a:r>
            <a:r>
              <a:rPr lang="tr-TR" sz="2000" i="1" dirty="0"/>
              <a:t> </a:t>
            </a:r>
            <a:r>
              <a:rPr lang="tr-TR" sz="2000" i="1" dirty="0" err="1"/>
              <a:t>Perspective</a:t>
            </a:r>
            <a:r>
              <a:rPr lang="tr-TR" sz="2000" dirty="0"/>
              <a:t>, 4th ed. Boston, MA, USA: </a:t>
            </a:r>
            <a:r>
              <a:rPr lang="tr-TR" sz="2000" dirty="0" err="1"/>
              <a:t>Addison</a:t>
            </a:r>
            <a:r>
              <a:rPr lang="tr-TR" sz="2000" dirty="0"/>
              <a:t>-Wesley, 2011.</a:t>
            </a:r>
          </a:p>
          <a:p>
            <a:r>
              <a:rPr lang="tr-TR" sz="2000" dirty="0"/>
              <a:t>[2] J. M. </a:t>
            </a:r>
            <a:r>
              <a:rPr lang="tr-TR" sz="2000" dirty="0" err="1"/>
              <a:t>Rabaey</a:t>
            </a:r>
            <a:r>
              <a:rPr lang="tr-TR" sz="2000" dirty="0"/>
              <a:t>, A. </a:t>
            </a:r>
            <a:r>
              <a:rPr lang="tr-TR" sz="2000" dirty="0" err="1"/>
              <a:t>Chandrakasan</a:t>
            </a:r>
            <a:r>
              <a:rPr lang="tr-TR" sz="2000" dirty="0"/>
              <a:t>, </a:t>
            </a:r>
            <a:r>
              <a:rPr lang="tr-TR" sz="2000" dirty="0" err="1"/>
              <a:t>and</a:t>
            </a:r>
            <a:r>
              <a:rPr lang="tr-TR" sz="2000" dirty="0"/>
              <a:t> B. </a:t>
            </a:r>
            <a:r>
              <a:rPr lang="tr-TR" sz="2000" dirty="0" err="1"/>
              <a:t>Nikolić</a:t>
            </a:r>
            <a:r>
              <a:rPr lang="tr-TR" sz="2000" dirty="0"/>
              <a:t>, </a:t>
            </a:r>
            <a:r>
              <a:rPr lang="tr-TR" sz="2000" i="1" dirty="0" err="1"/>
              <a:t>Digital</a:t>
            </a:r>
            <a:r>
              <a:rPr lang="tr-TR" sz="2000" i="1" dirty="0"/>
              <a:t> </a:t>
            </a:r>
            <a:r>
              <a:rPr lang="tr-TR" sz="2000" i="1" dirty="0" err="1"/>
              <a:t>Integrated</a:t>
            </a:r>
            <a:r>
              <a:rPr lang="tr-TR" sz="2000" i="1" dirty="0"/>
              <a:t> </a:t>
            </a:r>
            <a:r>
              <a:rPr lang="tr-TR" sz="2000" i="1" dirty="0" err="1"/>
              <a:t>Circuits</a:t>
            </a:r>
            <a:r>
              <a:rPr lang="tr-TR" sz="2000" i="1" dirty="0"/>
              <a:t>: A Design </a:t>
            </a:r>
            <a:r>
              <a:rPr lang="tr-TR" sz="2000" i="1" dirty="0" err="1"/>
              <a:t>Perspective</a:t>
            </a:r>
            <a:r>
              <a:rPr lang="tr-TR" sz="2000" dirty="0"/>
              <a:t>, 2nd ed. </a:t>
            </a:r>
            <a:r>
              <a:rPr lang="tr-TR" sz="2000" dirty="0" err="1"/>
              <a:t>Upper</a:t>
            </a:r>
            <a:r>
              <a:rPr lang="tr-TR" sz="2000" dirty="0"/>
              <a:t> </a:t>
            </a:r>
            <a:r>
              <a:rPr lang="tr-TR" sz="2000" dirty="0" err="1"/>
              <a:t>Saddle</a:t>
            </a:r>
            <a:r>
              <a:rPr lang="tr-TR" sz="2000" dirty="0"/>
              <a:t> </a:t>
            </a:r>
            <a:r>
              <a:rPr lang="tr-TR" sz="2000" dirty="0" err="1"/>
              <a:t>River</a:t>
            </a:r>
            <a:r>
              <a:rPr lang="tr-TR" sz="2000" dirty="0"/>
              <a:t>, NJ, USA: </a:t>
            </a:r>
            <a:r>
              <a:rPr lang="tr-TR" sz="2000" dirty="0" err="1"/>
              <a:t>Prentice</a:t>
            </a:r>
            <a:r>
              <a:rPr lang="tr-TR" sz="2000" dirty="0"/>
              <a:t> </a:t>
            </a:r>
            <a:r>
              <a:rPr lang="tr-TR" sz="2000" dirty="0" err="1"/>
              <a:t>Hall</a:t>
            </a:r>
            <a:r>
              <a:rPr lang="tr-TR" sz="2000" dirty="0"/>
              <a:t>, 2003.</a:t>
            </a:r>
          </a:p>
          <a:p>
            <a:r>
              <a:rPr lang="tr-TR" sz="2000" dirty="0"/>
              <a:t>[3] R. J. Baker, </a:t>
            </a:r>
            <a:r>
              <a:rPr lang="tr-TR" sz="2000" i="1" dirty="0"/>
              <a:t>CMOS: </a:t>
            </a:r>
            <a:r>
              <a:rPr lang="tr-TR" sz="2000" i="1" dirty="0" err="1"/>
              <a:t>Circuit</a:t>
            </a:r>
            <a:r>
              <a:rPr lang="tr-TR" sz="2000" i="1" dirty="0"/>
              <a:t> Design, </a:t>
            </a:r>
            <a:r>
              <a:rPr lang="tr-TR" sz="2000" i="1" dirty="0" err="1"/>
              <a:t>Layout</a:t>
            </a:r>
            <a:r>
              <a:rPr lang="tr-TR" sz="2000" i="1" dirty="0"/>
              <a:t>, </a:t>
            </a:r>
            <a:r>
              <a:rPr lang="tr-TR" sz="2000" i="1" dirty="0" err="1"/>
              <a:t>and</a:t>
            </a:r>
            <a:r>
              <a:rPr lang="tr-TR" sz="2000" i="1" dirty="0"/>
              <a:t> </a:t>
            </a:r>
            <a:r>
              <a:rPr lang="tr-TR" sz="2000" i="1" dirty="0" err="1"/>
              <a:t>Simulation</a:t>
            </a:r>
            <a:r>
              <a:rPr lang="tr-TR" sz="2000" dirty="0"/>
              <a:t>, 3rd ed. </a:t>
            </a:r>
            <a:r>
              <a:rPr lang="tr-TR" sz="2000" dirty="0" err="1"/>
              <a:t>Hoboken</a:t>
            </a:r>
            <a:r>
              <a:rPr lang="tr-TR" sz="2000" dirty="0"/>
              <a:t>, NJ, USA: </a:t>
            </a:r>
            <a:r>
              <a:rPr lang="tr-TR" sz="2000" dirty="0" err="1"/>
              <a:t>Wiley</a:t>
            </a:r>
            <a:r>
              <a:rPr lang="tr-TR" sz="2000" dirty="0"/>
              <a:t>-IEEE </a:t>
            </a:r>
            <a:r>
              <a:rPr lang="tr-TR" sz="2000" dirty="0" err="1"/>
              <a:t>Press</a:t>
            </a:r>
            <a:r>
              <a:rPr lang="tr-TR" sz="2000" dirty="0"/>
              <a:t>, 2010.</a:t>
            </a:r>
          </a:p>
          <a:p>
            <a:r>
              <a:rPr lang="tr-TR" sz="2000" dirty="0"/>
              <a:t>[4] M. M. Mano </a:t>
            </a:r>
            <a:r>
              <a:rPr lang="tr-TR" sz="2000" dirty="0" err="1"/>
              <a:t>and</a:t>
            </a:r>
            <a:r>
              <a:rPr lang="tr-TR" sz="2000" dirty="0"/>
              <a:t> M. D. </a:t>
            </a:r>
            <a:r>
              <a:rPr lang="tr-TR" sz="2000" dirty="0" err="1"/>
              <a:t>Ciletti</a:t>
            </a:r>
            <a:r>
              <a:rPr lang="tr-TR" sz="2000" dirty="0"/>
              <a:t>, </a:t>
            </a:r>
            <a:r>
              <a:rPr lang="tr-TR" sz="2000" i="1" dirty="0" err="1"/>
              <a:t>Digital</a:t>
            </a:r>
            <a:r>
              <a:rPr lang="tr-TR" sz="2000" i="1" dirty="0"/>
              <a:t> Design: </a:t>
            </a:r>
            <a:r>
              <a:rPr lang="tr-TR" sz="2000" i="1" dirty="0" err="1"/>
              <a:t>With</a:t>
            </a:r>
            <a:r>
              <a:rPr lang="tr-TR" sz="2000" i="1" dirty="0"/>
              <a:t> an </a:t>
            </a:r>
            <a:r>
              <a:rPr lang="tr-TR" sz="2000" i="1" dirty="0" err="1"/>
              <a:t>Introduction</a:t>
            </a:r>
            <a:r>
              <a:rPr lang="tr-TR" sz="2000" i="1" dirty="0"/>
              <a:t> </a:t>
            </a:r>
            <a:r>
              <a:rPr lang="tr-TR" sz="2000" i="1" dirty="0" err="1"/>
              <a:t>to</a:t>
            </a:r>
            <a:r>
              <a:rPr lang="tr-TR" sz="2000" i="1" dirty="0"/>
              <a:t> </a:t>
            </a:r>
            <a:r>
              <a:rPr lang="tr-TR" sz="2000" i="1" dirty="0" err="1"/>
              <a:t>the</a:t>
            </a:r>
            <a:r>
              <a:rPr lang="tr-TR" sz="2000" i="1" dirty="0"/>
              <a:t> </a:t>
            </a:r>
            <a:r>
              <a:rPr lang="tr-TR" sz="2000" i="1" dirty="0" err="1"/>
              <a:t>Verilog</a:t>
            </a:r>
            <a:r>
              <a:rPr lang="tr-TR" sz="2000" i="1" dirty="0"/>
              <a:t> HDL, VHDL, </a:t>
            </a:r>
            <a:r>
              <a:rPr lang="tr-TR" sz="2000" i="1" dirty="0" err="1"/>
              <a:t>and</a:t>
            </a:r>
            <a:r>
              <a:rPr lang="tr-TR" sz="2000" i="1" dirty="0"/>
              <a:t> </a:t>
            </a:r>
            <a:r>
              <a:rPr lang="tr-TR" sz="2000" i="1" dirty="0" err="1"/>
              <a:t>SystemVerilog</a:t>
            </a:r>
            <a:r>
              <a:rPr lang="tr-TR" sz="2000" dirty="0"/>
              <a:t>, 6th ed. Boston, MA, USA: </a:t>
            </a:r>
            <a:r>
              <a:rPr lang="tr-TR" sz="2000" dirty="0" err="1"/>
              <a:t>Pearson</a:t>
            </a:r>
            <a:r>
              <a:rPr lang="tr-TR" sz="2000" dirty="0"/>
              <a:t>, 2018.</a:t>
            </a:r>
          </a:p>
          <a:p>
            <a:r>
              <a:rPr lang="tr-TR" sz="2000" dirty="0"/>
              <a:t>[5] D. M. Harris </a:t>
            </a:r>
            <a:r>
              <a:rPr lang="tr-TR" sz="2000" dirty="0" err="1"/>
              <a:t>and</a:t>
            </a:r>
            <a:r>
              <a:rPr lang="tr-TR" sz="2000" dirty="0"/>
              <a:t> S. L. Harris, </a:t>
            </a:r>
            <a:r>
              <a:rPr lang="tr-TR" sz="2000" i="1" dirty="0" err="1"/>
              <a:t>Digital</a:t>
            </a:r>
            <a:r>
              <a:rPr lang="tr-TR" sz="2000" i="1" dirty="0"/>
              <a:t> Design </a:t>
            </a:r>
            <a:r>
              <a:rPr lang="tr-TR" sz="2000" i="1" dirty="0" err="1"/>
              <a:t>and</a:t>
            </a:r>
            <a:r>
              <a:rPr lang="tr-TR" sz="2000" i="1" dirty="0"/>
              <a:t> </a:t>
            </a:r>
            <a:r>
              <a:rPr lang="tr-TR" sz="2000" i="1" dirty="0" err="1"/>
              <a:t>Computer</a:t>
            </a:r>
            <a:r>
              <a:rPr lang="tr-TR" sz="2000" i="1" dirty="0"/>
              <a:t> Architecture</a:t>
            </a:r>
            <a:r>
              <a:rPr lang="tr-TR" sz="2000" dirty="0"/>
              <a:t>, 2nd ed. </a:t>
            </a:r>
            <a:r>
              <a:rPr lang="tr-TR" sz="2000" dirty="0" err="1"/>
              <a:t>Waltham</a:t>
            </a:r>
            <a:r>
              <a:rPr lang="tr-TR" sz="2000" dirty="0"/>
              <a:t>, MA, USA: Morgan Kaufmann, 2012.</a:t>
            </a:r>
          </a:p>
          <a:p>
            <a:r>
              <a:rPr lang="tr-TR" sz="2000" dirty="0"/>
              <a:t>[6] J. L. </a:t>
            </a:r>
            <a:r>
              <a:rPr lang="tr-TR" sz="2000" dirty="0" err="1"/>
              <a:t>Hennessy</a:t>
            </a:r>
            <a:r>
              <a:rPr lang="tr-TR" sz="2000" dirty="0"/>
              <a:t> </a:t>
            </a:r>
            <a:r>
              <a:rPr lang="tr-TR" sz="2000" dirty="0" err="1"/>
              <a:t>and</a:t>
            </a:r>
            <a:r>
              <a:rPr lang="tr-TR" sz="2000" dirty="0"/>
              <a:t> D. A. Patterson, </a:t>
            </a:r>
            <a:r>
              <a:rPr lang="tr-TR" sz="2000" i="1" dirty="0" err="1"/>
              <a:t>Computer</a:t>
            </a:r>
            <a:r>
              <a:rPr lang="tr-TR" sz="2000" i="1" dirty="0"/>
              <a:t> Architecture: A </a:t>
            </a:r>
            <a:r>
              <a:rPr lang="tr-TR" sz="2000" i="1" dirty="0" err="1"/>
              <a:t>Quantitative</a:t>
            </a:r>
            <a:r>
              <a:rPr lang="tr-TR" sz="2000" i="1" dirty="0"/>
              <a:t> </a:t>
            </a:r>
            <a:r>
              <a:rPr lang="tr-TR" sz="2000" i="1" dirty="0" err="1"/>
              <a:t>Approach</a:t>
            </a:r>
            <a:r>
              <a:rPr lang="tr-TR" sz="2000" dirty="0"/>
              <a:t>, 5th ed. </a:t>
            </a:r>
            <a:r>
              <a:rPr lang="tr-TR" sz="2000" dirty="0" err="1"/>
              <a:t>Burlington</a:t>
            </a:r>
            <a:r>
              <a:rPr lang="tr-TR" sz="2000" dirty="0"/>
              <a:t>, MA, USA: Morgan Kaufmann, 2011.</a:t>
            </a:r>
          </a:p>
          <a:p>
            <a:r>
              <a:rPr lang="tr-TR" sz="2000" dirty="0"/>
              <a:t>[7] YouTube </a:t>
            </a:r>
            <a:r>
              <a:rPr lang="tr-TR" sz="2000" dirty="0" err="1"/>
              <a:t>Tutorial</a:t>
            </a:r>
            <a:r>
              <a:rPr lang="tr-TR" sz="2000" dirty="0"/>
              <a:t>, “CMOS </a:t>
            </a:r>
            <a:r>
              <a:rPr lang="tr-TR" sz="2000" dirty="0" err="1"/>
              <a:t>Logic</a:t>
            </a:r>
            <a:r>
              <a:rPr lang="tr-TR" sz="2000" dirty="0"/>
              <a:t> Gates </a:t>
            </a:r>
            <a:r>
              <a:rPr lang="tr-TR" sz="2000" dirty="0" err="1"/>
              <a:t>Explained</a:t>
            </a:r>
            <a:r>
              <a:rPr lang="tr-TR" sz="2000" dirty="0"/>
              <a:t> + NAND, NOR, XOR </a:t>
            </a:r>
            <a:r>
              <a:rPr lang="tr-TR" sz="2000" dirty="0" err="1"/>
              <a:t>Implementation</a:t>
            </a:r>
            <a:r>
              <a:rPr lang="tr-TR" sz="2000" dirty="0"/>
              <a:t>,” YouTube. </a:t>
            </a:r>
            <a:r>
              <a:rPr lang="tr-TR" sz="2000" dirty="0" err="1"/>
              <a:t>Accessed</a:t>
            </a:r>
            <a:r>
              <a:rPr lang="tr-TR" sz="2000" dirty="0"/>
              <a:t>: Jan. 2026. [Online]. </a:t>
            </a:r>
            <a:r>
              <a:rPr lang="tr-TR" sz="2000" dirty="0" err="1"/>
              <a:t>Available</a:t>
            </a:r>
            <a:r>
              <a:rPr lang="tr-TR" sz="2000" dirty="0"/>
              <a:t>: </a:t>
            </a:r>
            <a:r>
              <a:rPr lang="tr-TR" sz="2000" dirty="0">
                <a:hlinkClick r:id="rId2"/>
              </a:rPr>
              <a:t>https://www.youtube.com/watch?v=MupsaVTT6iw</a:t>
            </a:r>
            <a:endParaRPr lang="tr-TR" sz="2000" dirty="0"/>
          </a:p>
        </p:txBody>
      </p:sp>
    </p:spTree>
    <p:extLst>
      <p:ext uri="{BB962C8B-B14F-4D97-AF65-F5344CB8AC3E}">
        <p14:creationId xmlns:p14="http://schemas.microsoft.com/office/powerpoint/2010/main" val="327866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61AB3F-043F-9F7D-534F-D6C34A48CF05}"/>
              </a:ext>
            </a:extLst>
          </p:cNvPr>
          <p:cNvSpPr/>
          <p:nvPr/>
        </p:nvSpPr>
        <p:spPr>
          <a:xfrm>
            <a:off x="391886" y="1393371"/>
            <a:ext cx="11451771" cy="534125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A3F5776-0C93-BE72-D4E9-7A98EA3B256D}"/>
              </a:ext>
            </a:extLst>
          </p:cNvPr>
          <p:cNvSpPr>
            <a:spLocks noGrp="1"/>
          </p:cNvSpPr>
          <p:nvPr>
            <p:ph type="title"/>
          </p:nvPr>
        </p:nvSpPr>
        <p:spPr/>
        <p:txBody>
          <a:bodyPr/>
          <a:lstStyle/>
          <a:p>
            <a:r>
              <a:rPr lang="en-US" dirty="0"/>
              <a:t>Physical Layout of the Complete Design</a:t>
            </a:r>
          </a:p>
        </p:txBody>
      </p:sp>
      <p:pic>
        <p:nvPicPr>
          <p:cNvPr id="8" name="Picture 7" descr="A computer screen shot of a computer&#10;&#10;AI-generated content may be incorrect.">
            <a:extLst>
              <a:ext uri="{FF2B5EF4-FFF2-40B4-BE49-F238E27FC236}">
                <a16:creationId xmlns:a16="http://schemas.microsoft.com/office/drawing/2014/main" id="{534523C7-36E8-77E6-8553-A8E0F83DA9C4}"/>
              </a:ext>
            </a:extLst>
          </p:cNvPr>
          <p:cNvPicPr>
            <a:picLocks noChangeAspect="1"/>
          </p:cNvPicPr>
          <p:nvPr/>
        </p:nvPicPr>
        <p:blipFill>
          <a:blip r:embed="rId2"/>
          <a:stretch>
            <a:fillRect/>
          </a:stretch>
        </p:blipFill>
        <p:spPr>
          <a:xfrm>
            <a:off x="766233" y="1561563"/>
            <a:ext cx="10659534" cy="4931312"/>
          </a:xfrm>
          <a:prstGeom prst="rect">
            <a:avLst/>
          </a:prstGeom>
        </p:spPr>
      </p:pic>
    </p:spTree>
    <p:extLst>
      <p:ext uri="{BB962C8B-B14F-4D97-AF65-F5344CB8AC3E}">
        <p14:creationId xmlns:p14="http://schemas.microsoft.com/office/powerpoint/2010/main" val="7982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B03A0-945A-3DDF-DBBF-DC7317B90AAC}"/>
              </a:ext>
            </a:extLst>
          </p:cNvPr>
          <p:cNvSpPr>
            <a:spLocks noGrp="1"/>
          </p:cNvSpPr>
          <p:nvPr>
            <p:ph type="title"/>
          </p:nvPr>
        </p:nvSpPr>
        <p:spPr>
          <a:xfrm>
            <a:off x="838200" y="60589"/>
            <a:ext cx="10515600" cy="1325563"/>
          </a:xfrm>
        </p:spPr>
        <p:txBody>
          <a:bodyPr/>
          <a:lstStyle/>
          <a:p>
            <a:r>
              <a:rPr lang="en-US" dirty="0"/>
              <a:t>Additional Design Material</a:t>
            </a:r>
          </a:p>
        </p:txBody>
      </p:sp>
      <p:pic>
        <p:nvPicPr>
          <p:cNvPr id="5" name="Content Placeholder 4">
            <a:extLst>
              <a:ext uri="{FF2B5EF4-FFF2-40B4-BE49-F238E27FC236}">
                <a16:creationId xmlns:a16="http://schemas.microsoft.com/office/drawing/2014/main" id="{E76A2B7B-DFF0-5ABC-7A9D-48E328127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7962" y="1112777"/>
            <a:ext cx="5368238" cy="5451509"/>
          </a:xfrm>
          <a:prstGeom prst="rect">
            <a:avLst/>
          </a:prstGeom>
        </p:spPr>
      </p:pic>
      <p:sp>
        <p:nvSpPr>
          <p:cNvPr id="3" name="Content Placeholder 2">
            <a:extLst>
              <a:ext uri="{FF2B5EF4-FFF2-40B4-BE49-F238E27FC236}">
                <a16:creationId xmlns:a16="http://schemas.microsoft.com/office/drawing/2014/main" id="{2D11263F-B285-4108-3353-DF589BEC9CBE}"/>
              </a:ext>
            </a:extLst>
          </p:cNvPr>
          <p:cNvSpPr>
            <a:spLocks noGrp="1"/>
          </p:cNvSpPr>
          <p:nvPr>
            <p:ph idx="1"/>
          </p:nvPr>
        </p:nvSpPr>
        <p:spPr>
          <a:xfrm>
            <a:off x="245534" y="1662862"/>
            <a:ext cx="5638800" cy="4351338"/>
          </a:xfrm>
        </p:spPr>
        <p:txBody>
          <a:bodyPr>
            <a:normAutofit fontScale="92500" lnSpcReduction="10000"/>
          </a:bodyPr>
          <a:lstStyle/>
          <a:p>
            <a:pPr marL="0" indent="0">
              <a:buNone/>
            </a:pPr>
            <a:r>
              <a:rPr lang="en-US" sz="2000" dirty="0"/>
              <a:t>The multiplication unit requires significantly higher hardware complexity compared to the other ALU operations. For this reason, the design effort was focused on the complete and correct implementation of the remaining fifteen operations. Each operation was individually designed as an 8-bit functional block, and all blocks were subsequently integrated into a unified schematic representing the overall ALU architecture. </a:t>
            </a:r>
            <a:endParaRPr lang="tr-TR" sz="2000" dirty="0"/>
          </a:p>
          <a:p>
            <a:pPr marL="0" indent="0">
              <a:buNone/>
            </a:pPr>
            <a:r>
              <a:rPr lang="en-US" sz="2000" dirty="0"/>
              <a:t>Although the full physical layout of the entire system could not be completed within the project timeframe due to layout complexity and time limitations, the complete functional behavior of the </a:t>
            </a:r>
            <a:r>
              <a:rPr lang="en-US" sz="2000" b="1" dirty="0"/>
              <a:t>ALU was successfully implemented and verified at the schematic level</a:t>
            </a:r>
            <a:r>
              <a:rPr lang="tr-TR" sz="2000" b="1" dirty="0"/>
              <a:t> as </a:t>
            </a:r>
            <a:r>
              <a:rPr lang="tr-TR" sz="2000" b="1" dirty="0" err="1"/>
              <a:t>shown</a:t>
            </a:r>
            <a:r>
              <a:rPr lang="tr-TR" sz="2000" b="1" dirty="0"/>
              <a:t> </a:t>
            </a:r>
            <a:r>
              <a:rPr lang="en-US" sz="2000" b="1" dirty="0"/>
              <a:t>in the schematic on the right.</a:t>
            </a:r>
            <a:endParaRPr lang="en-US" sz="2000" b="1" dirty="0">
              <a:solidFill>
                <a:srgbClr val="FF0000"/>
              </a:solidFill>
            </a:endParaRPr>
          </a:p>
        </p:txBody>
      </p:sp>
    </p:spTree>
    <p:extLst>
      <p:ext uri="{BB962C8B-B14F-4D97-AF65-F5344CB8AC3E}">
        <p14:creationId xmlns:p14="http://schemas.microsoft.com/office/powerpoint/2010/main" val="95098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D0991-B270-CA27-FD0F-22C7CFE55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BDE04-5182-81A4-72DE-3C6CF407CBC9}"/>
              </a:ext>
            </a:extLst>
          </p:cNvPr>
          <p:cNvSpPr>
            <a:spLocks noGrp="1"/>
          </p:cNvSpPr>
          <p:nvPr>
            <p:ph type="title"/>
          </p:nvPr>
        </p:nvSpPr>
        <p:spPr/>
        <p:txBody>
          <a:bodyPr/>
          <a:lstStyle/>
          <a:p>
            <a:r>
              <a:rPr lang="en-US" dirty="0"/>
              <a:t>Additional Design Material</a:t>
            </a:r>
          </a:p>
        </p:txBody>
      </p:sp>
      <p:pic>
        <p:nvPicPr>
          <p:cNvPr id="15" name="Content Placeholder 14" descr="A computer generated image of a building&#10;&#10;AI-generated content may be incorrect.">
            <a:extLst>
              <a:ext uri="{FF2B5EF4-FFF2-40B4-BE49-F238E27FC236}">
                <a16:creationId xmlns:a16="http://schemas.microsoft.com/office/drawing/2014/main" id="{1F6AEDB1-682A-F402-77C1-1E0C5D6E40B0}"/>
              </a:ext>
            </a:extLst>
          </p:cNvPr>
          <p:cNvPicPr>
            <a:picLocks noGrp="1" noChangeAspect="1"/>
          </p:cNvPicPr>
          <p:nvPr>
            <p:ph idx="1"/>
          </p:nvPr>
        </p:nvPicPr>
        <p:blipFill>
          <a:blip r:embed="rId2"/>
          <a:stretch>
            <a:fillRect/>
          </a:stretch>
        </p:blipFill>
        <p:spPr>
          <a:xfrm>
            <a:off x="4074608" y="1774825"/>
            <a:ext cx="7751183" cy="4351338"/>
          </a:xfrm>
          <a:prstGeom prst="rect">
            <a:avLst/>
          </a:prstGeom>
        </p:spPr>
      </p:pic>
      <p:sp>
        <p:nvSpPr>
          <p:cNvPr id="16" name="Content Placeholder 2">
            <a:extLst>
              <a:ext uri="{FF2B5EF4-FFF2-40B4-BE49-F238E27FC236}">
                <a16:creationId xmlns:a16="http://schemas.microsoft.com/office/drawing/2014/main" id="{186AEC0B-1E0F-BFE9-265D-D2C70E1CB408}"/>
              </a:ext>
            </a:extLst>
          </p:cNvPr>
          <p:cNvSpPr txBox="1">
            <a:spLocks/>
          </p:cNvSpPr>
          <p:nvPr/>
        </p:nvSpPr>
        <p:spPr>
          <a:xfrm>
            <a:off x="508000" y="3067425"/>
            <a:ext cx="3236408" cy="219884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2400" dirty="0"/>
              <a:t>8-Bit </a:t>
            </a:r>
            <a:r>
              <a:rPr lang="tr-TR" sz="2400" dirty="0" err="1"/>
              <a:t>Subtractor</a:t>
            </a:r>
            <a:r>
              <a:rPr lang="tr-TR" sz="2400" dirty="0"/>
              <a:t> </a:t>
            </a:r>
            <a:r>
              <a:rPr lang="tr-TR" sz="2400" dirty="0" err="1"/>
              <a:t>with</a:t>
            </a:r>
            <a:r>
              <a:rPr lang="tr-TR" sz="2400" dirty="0"/>
              <a:t> Zero </a:t>
            </a:r>
            <a:r>
              <a:rPr lang="tr-TR" sz="2400" dirty="0" err="1"/>
              <a:t>Flag</a:t>
            </a:r>
            <a:r>
              <a:rPr lang="tr-TR" sz="2400" dirty="0"/>
              <a:t>, </a:t>
            </a:r>
            <a:r>
              <a:rPr lang="tr-TR" sz="2400" dirty="0" err="1"/>
              <a:t>Equal</a:t>
            </a:r>
            <a:r>
              <a:rPr lang="tr-TR" sz="2400" dirty="0"/>
              <a:t>, </a:t>
            </a:r>
            <a:r>
              <a:rPr lang="tr-TR" sz="2400" dirty="0" err="1"/>
              <a:t>Less</a:t>
            </a:r>
            <a:r>
              <a:rPr lang="tr-TR" sz="2400" dirty="0"/>
              <a:t> </a:t>
            </a:r>
            <a:r>
              <a:rPr lang="tr-TR" sz="2400" dirty="0" err="1"/>
              <a:t>Than</a:t>
            </a:r>
            <a:r>
              <a:rPr lang="tr-TR" sz="2400" dirty="0"/>
              <a:t> </a:t>
            </a:r>
            <a:r>
              <a:rPr lang="tr-TR" sz="2400" dirty="0" err="1"/>
              <a:t>and</a:t>
            </a:r>
            <a:r>
              <a:rPr lang="tr-TR" sz="2400" dirty="0"/>
              <a:t> </a:t>
            </a:r>
            <a:r>
              <a:rPr lang="tr-TR" sz="2400" dirty="0" err="1"/>
              <a:t>Greater</a:t>
            </a:r>
            <a:r>
              <a:rPr lang="tr-TR" sz="2400" dirty="0"/>
              <a:t> </a:t>
            </a:r>
            <a:r>
              <a:rPr lang="tr-TR" sz="2400" dirty="0" err="1"/>
              <a:t>Than</a:t>
            </a:r>
            <a:r>
              <a:rPr lang="tr-TR" sz="2400" dirty="0"/>
              <a:t> </a:t>
            </a:r>
            <a:r>
              <a:rPr lang="tr-TR" sz="2400" dirty="0" err="1"/>
              <a:t>Comparators</a:t>
            </a:r>
            <a:endParaRPr lang="tr-TR" sz="2400" dirty="0"/>
          </a:p>
          <a:p>
            <a:pPr marL="0" indent="0">
              <a:buFont typeface="Arial" panose="020B0604020202020204" pitchFamily="34" charset="0"/>
              <a:buNone/>
            </a:pPr>
            <a:endParaRPr lang="tr-TR" sz="2400" dirty="0"/>
          </a:p>
          <a:p>
            <a:pPr marL="0" indent="0">
              <a:buFont typeface="Arial" panose="020B0604020202020204" pitchFamily="34" charset="0"/>
              <a:buNone/>
            </a:pPr>
            <a:r>
              <a:rPr lang="tr-TR" sz="2400" dirty="0" err="1"/>
              <a:t>It</a:t>
            </a:r>
            <a:r>
              <a:rPr lang="tr-TR" sz="2400" dirty="0"/>
              <a:t> </a:t>
            </a:r>
            <a:r>
              <a:rPr lang="tr-TR" sz="2400" dirty="0" err="1"/>
              <a:t>also</a:t>
            </a:r>
            <a:r>
              <a:rPr lang="tr-TR" sz="2400" dirty="0"/>
              <a:t> </a:t>
            </a:r>
            <a:r>
              <a:rPr lang="tr-TR" sz="2400" dirty="0" err="1"/>
              <a:t>includes</a:t>
            </a:r>
            <a:r>
              <a:rPr lang="tr-TR" sz="2400" dirty="0"/>
              <a:t> </a:t>
            </a:r>
            <a:r>
              <a:rPr lang="tr-TR" sz="2400" dirty="0" err="1"/>
              <a:t>the</a:t>
            </a:r>
            <a:r>
              <a:rPr lang="tr-TR" sz="2400" dirty="0"/>
              <a:t> 8-Bit </a:t>
            </a:r>
            <a:r>
              <a:rPr lang="tr-TR" sz="2400" dirty="0" err="1"/>
              <a:t>Adder</a:t>
            </a:r>
            <a:r>
              <a:rPr lang="tr-TR" sz="2400" dirty="0"/>
              <a:t> </a:t>
            </a:r>
            <a:r>
              <a:rPr lang="tr-TR" sz="2400" dirty="0" err="1"/>
              <a:t>layout</a:t>
            </a:r>
            <a:r>
              <a:rPr lang="tr-TR" sz="2400" dirty="0"/>
              <a:t>.</a:t>
            </a:r>
          </a:p>
          <a:p>
            <a:pPr marL="0" indent="0">
              <a:buFont typeface="Arial" panose="020B0604020202020204" pitchFamily="34" charset="0"/>
              <a:buNone/>
            </a:pPr>
            <a:endParaRPr lang="tr-TR" sz="2400" dirty="0"/>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1130728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9F52-A838-F2F6-5AC4-28A2BDF90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68D47-CA5B-34D1-4A22-54239166329B}"/>
              </a:ext>
            </a:extLst>
          </p:cNvPr>
          <p:cNvSpPr>
            <a:spLocks noGrp="1"/>
          </p:cNvSpPr>
          <p:nvPr>
            <p:ph type="title"/>
          </p:nvPr>
        </p:nvSpPr>
        <p:spPr/>
        <p:txBody>
          <a:bodyPr/>
          <a:lstStyle/>
          <a:p>
            <a:r>
              <a:rPr lang="en-US" dirty="0"/>
              <a:t>Additional Design Material</a:t>
            </a:r>
          </a:p>
        </p:txBody>
      </p:sp>
      <p:pic>
        <p:nvPicPr>
          <p:cNvPr id="7" name="Picture 6" descr="A colorful lines and dots&#10;&#10;AI-generated content may be incorrect.">
            <a:extLst>
              <a:ext uri="{FF2B5EF4-FFF2-40B4-BE49-F238E27FC236}">
                <a16:creationId xmlns:a16="http://schemas.microsoft.com/office/drawing/2014/main" id="{F739038B-B959-FF96-9C6E-73F7917B9818}"/>
              </a:ext>
            </a:extLst>
          </p:cNvPr>
          <p:cNvPicPr>
            <a:picLocks noChangeAspect="1"/>
          </p:cNvPicPr>
          <p:nvPr/>
        </p:nvPicPr>
        <p:blipFill>
          <a:blip r:embed="rId2"/>
          <a:stretch>
            <a:fillRect/>
          </a:stretch>
        </p:blipFill>
        <p:spPr>
          <a:xfrm>
            <a:off x="4596583" y="1465920"/>
            <a:ext cx="7041621" cy="4962448"/>
          </a:xfrm>
          <a:prstGeom prst="rect">
            <a:avLst/>
          </a:prstGeom>
        </p:spPr>
      </p:pic>
      <p:sp>
        <p:nvSpPr>
          <p:cNvPr id="8" name="Content Placeholder 2">
            <a:extLst>
              <a:ext uri="{FF2B5EF4-FFF2-40B4-BE49-F238E27FC236}">
                <a16:creationId xmlns:a16="http://schemas.microsoft.com/office/drawing/2014/main" id="{9FA882B1-B78B-9F07-9DA3-DEF4AAFAE1F2}"/>
              </a:ext>
            </a:extLst>
          </p:cNvPr>
          <p:cNvSpPr txBox="1">
            <a:spLocks/>
          </p:cNvSpPr>
          <p:nvPr/>
        </p:nvSpPr>
        <p:spPr>
          <a:xfrm>
            <a:off x="838200" y="3041824"/>
            <a:ext cx="3236408" cy="1766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16:1 MUX </a:t>
            </a:r>
            <a:r>
              <a:rPr lang="tr-TR" sz="2400" dirty="0" err="1"/>
              <a:t>Layout</a:t>
            </a:r>
            <a:r>
              <a:rPr lang="tr-TR" sz="2400" dirty="0"/>
              <a:t> </a:t>
            </a:r>
            <a:r>
              <a:rPr lang="tr-TR" sz="2400" dirty="0" err="1"/>
              <a:t>with</a:t>
            </a:r>
            <a:r>
              <a:rPr lang="tr-TR" sz="2400" dirty="0"/>
              <a:t> </a:t>
            </a:r>
            <a:r>
              <a:rPr lang="tr-TR" sz="2400" dirty="0" err="1"/>
              <a:t>Transmission</a:t>
            </a:r>
            <a:r>
              <a:rPr lang="tr-TR" sz="2400" dirty="0"/>
              <a:t> Gates </a:t>
            </a:r>
            <a:r>
              <a:rPr lang="tr-TR" sz="2400" dirty="0" err="1"/>
              <a:t>and</a:t>
            </a:r>
            <a:r>
              <a:rPr lang="tr-TR" sz="2400" dirty="0"/>
              <a:t> </a:t>
            </a:r>
            <a:r>
              <a:rPr lang="tr-TR" sz="2400" dirty="0" err="1"/>
              <a:t>using</a:t>
            </a:r>
            <a:r>
              <a:rPr lang="tr-TR" sz="2400" dirty="0"/>
              <a:t> 2:1 </a:t>
            </a:r>
            <a:r>
              <a:rPr lang="tr-TR" sz="2400" dirty="0" err="1"/>
              <a:t>MUXs</a:t>
            </a:r>
            <a:r>
              <a:rPr lang="tr-TR" sz="2400" dirty="0"/>
              <a:t> as a F</a:t>
            </a:r>
            <a:r>
              <a:rPr lang="en-US" sz="2400" dirty="0" err="1"/>
              <a:t>undamental</a:t>
            </a:r>
            <a:r>
              <a:rPr lang="tr-TR" sz="2400" dirty="0"/>
              <a:t> </a:t>
            </a:r>
            <a:r>
              <a:rPr lang="tr-TR" sz="2400" dirty="0" err="1"/>
              <a:t>Block</a:t>
            </a:r>
            <a:r>
              <a:rPr lang="tr-TR" sz="2400" dirty="0"/>
              <a:t> </a:t>
            </a:r>
            <a:endParaRPr lang="en-US" sz="2400" dirty="0"/>
          </a:p>
        </p:txBody>
      </p:sp>
    </p:spTree>
    <p:extLst>
      <p:ext uri="{BB962C8B-B14F-4D97-AF65-F5344CB8AC3E}">
        <p14:creationId xmlns:p14="http://schemas.microsoft.com/office/powerpoint/2010/main" val="162515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EC0A3-28BE-7FF5-5CC5-E9C50A336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D6975-A67F-61F9-3002-D42261E2D96E}"/>
              </a:ext>
            </a:extLst>
          </p:cNvPr>
          <p:cNvSpPr>
            <a:spLocks noGrp="1"/>
          </p:cNvSpPr>
          <p:nvPr>
            <p:ph type="title"/>
          </p:nvPr>
        </p:nvSpPr>
        <p:spPr/>
        <p:txBody>
          <a:bodyPr/>
          <a:lstStyle/>
          <a:p>
            <a:r>
              <a:rPr lang="en-US" dirty="0"/>
              <a:t>Additional Design Material</a:t>
            </a:r>
          </a:p>
        </p:txBody>
      </p:sp>
      <p:sp>
        <p:nvSpPr>
          <p:cNvPr id="8" name="Content Placeholder 2">
            <a:extLst>
              <a:ext uri="{FF2B5EF4-FFF2-40B4-BE49-F238E27FC236}">
                <a16:creationId xmlns:a16="http://schemas.microsoft.com/office/drawing/2014/main" id="{870E76A8-796B-8CB6-BF82-7D333E7046E9}"/>
              </a:ext>
            </a:extLst>
          </p:cNvPr>
          <p:cNvSpPr txBox="1">
            <a:spLocks/>
          </p:cNvSpPr>
          <p:nvPr/>
        </p:nvSpPr>
        <p:spPr>
          <a:xfrm>
            <a:off x="838200" y="1473465"/>
            <a:ext cx="3236408" cy="434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8-Bit OR </a:t>
            </a:r>
            <a:r>
              <a:rPr lang="tr-TR" sz="2400" dirty="0" err="1"/>
              <a:t>Layout</a:t>
            </a:r>
            <a:endParaRPr lang="en-US" sz="2400" dirty="0"/>
          </a:p>
        </p:txBody>
      </p:sp>
      <p:pic>
        <p:nvPicPr>
          <p:cNvPr id="4" name="Picture 3" descr="A computer generated image of a circuit board&#10;&#10;AI-generated content may be incorrect.">
            <a:extLst>
              <a:ext uri="{FF2B5EF4-FFF2-40B4-BE49-F238E27FC236}">
                <a16:creationId xmlns:a16="http://schemas.microsoft.com/office/drawing/2014/main" id="{1D5D8574-D636-1D1E-D93F-3B082EF6B761}"/>
              </a:ext>
            </a:extLst>
          </p:cNvPr>
          <p:cNvPicPr>
            <a:picLocks noChangeAspect="1"/>
          </p:cNvPicPr>
          <p:nvPr/>
        </p:nvPicPr>
        <p:blipFill>
          <a:blip r:embed="rId2"/>
          <a:stretch>
            <a:fillRect/>
          </a:stretch>
        </p:blipFill>
        <p:spPr>
          <a:xfrm>
            <a:off x="1524000" y="2065867"/>
            <a:ext cx="9144000" cy="4196828"/>
          </a:xfrm>
          <a:prstGeom prst="rect">
            <a:avLst/>
          </a:prstGeom>
        </p:spPr>
      </p:pic>
    </p:spTree>
    <p:extLst>
      <p:ext uri="{BB962C8B-B14F-4D97-AF65-F5344CB8AC3E}">
        <p14:creationId xmlns:p14="http://schemas.microsoft.com/office/powerpoint/2010/main" val="35285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15C2-E6D7-CCB3-3B7F-E81B445B8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FAFC6-7A03-B30A-3F02-BAA539612502}"/>
              </a:ext>
            </a:extLst>
          </p:cNvPr>
          <p:cNvSpPr>
            <a:spLocks noGrp="1"/>
          </p:cNvSpPr>
          <p:nvPr>
            <p:ph type="title"/>
          </p:nvPr>
        </p:nvSpPr>
        <p:spPr/>
        <p:txBody>
          <a:bodyPr/>
          <a:lstStyle/>
          <a:p>
            <a:r>
              <a:rPr lang="en-US" dirty="0"/>
              <a:t>Additional Design Material</a:t>
            </a:r>
          </a:p>
        </p:txBody>
      </p:sp>
      <p:sp>
        <p:nvSpPr>
          <p:cNvPr id="8" name="Content Placeholder 2">
            <a:extLst>
              <a:ext uri="{FF2B5EF4-FFF2-40B4-BE49-F238E27FC236}">
                <a16:creationId xmlns:a16="http://schemas.microsoft.com/office/drawing/2014/main" id="{C15EE279-C4B1-D1A4-B583-9CDC5898ABD6}"/>
              </a:ext>
            </a:extLst>
          </p:cNvPr>
          <p:cNvSpPr txBox="1">
            <a:spLocks/>
          </p:cNvSpPr>
          <p:nvPr/>
        </p:nvSpPr>
        <p:spPr>
          <a:xfrm>
            <a:off x="838200" y="1473465"/>
            <a:ext cx="3236408" cy="434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8-Bit XOR </a:t>
            </a:r>
            <a:r>
              <a:rPr lang="tr-TR" sz="2400" dirty="0" err="1"/>
              <a:t>Layout</a:t>
            </a:r>
            <a:endParaRPr lang="en-US" sz="2400" dirty="0"/>
          </a:p>
        </p:txBody>
      </p:sp>
      <p:pic>
        <p:nvPicPr>
          <p:cNvPr id="5" name="Picture 4" descr="A computer generated diagram of a circuit board&#10;&#10;AI-generated content may be incorrect.">
            <a:extLst>
              <a:ext uri="{FF2B5EF4-FFF2-40B4-BE49-F238E27FC236}">
                <a16:creationId xmlns:a16="http://schemas.microsoft.com/office/drawing/2014/main" id="{7F8935E0-5D8A-D370-2236-5E5F8173810C}"/>
              </a:ext>
            </a:extLst>
          </p:cNvPr>
          <p:cNvPicPr>
            <a:picLocks noChangeAspect="1"/>
          </p:cNvPicPr>
          <p:nvPr/>
        </p:nvPicPr>
        <p:blipFill>
          <a:blip r:embed="rId2"/>
          <a:stretch>
            <a:fillRect/>
          </a:stretch>
        </p:blipFill>
        <p:spPr>
          <a:xfrm>
            <a:off x="1274233" y="2040902"/>
            <a:ext cx="9643533" cy="3865438"/>
          </a:xfrm>
          <a:prstGeom prst="rect">
            <a:avLst/>
          </a:prstGeom>
        </p:spPr>
      </p:pic>
    </p:spTree>
    <p:extLst>
      <p:ext uri="{BB962C8B-B14F-4D97-AF65-F5344CB8AC3E}">
        <p14:creationId xmlns:p14="http://schemas.microsoft.com/office/powerpoint/2010/main" val="1700360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314F-9F68-02EE-C6E4-5B8942722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663B9-3DED-4EAF-5C31-7063CD8F8516}"/>
              </a:ext>
            </a:extLst>
          </p:cNvPr>
          <p:cNvSpPr>
            <a:spLocks noGrp="1"/>
          </p:cNvSpPr>
          <p:nvPr>
            <p:ph type="title"/>
          </p:nvPr>
        </p:nvSpPr>
        <p:spPr/>
        <p:txBody>
          <a:bodyPr/>
          <a:lstStyle/>
          <a:p>
            <a:r>
              <a:rPr lang="en-US" dirty="0"/>
              <a:t>Additional Design Material</a:t>
            </a:r>
          </a:p>
        </p:txBody>
      </p:sp>
      <p:sp>
        <p:nvSpPr>
          <p:cNvPr id="8" name="Content Placeholder 2">
            <a:extLst>
              <a:ext uri="{FF2B5EF4-FFF2-40B4-BE49-F238E27FC236}">
                <a16:creationId xmlns:a16="http://schemas.microsoft.com/office/drawing/2014/main" id="{341BE05E-FC53-D2D7-998B-CADB739B0B35}"/>
              </a:ext>
            </a:extLst>
          </p:cNvPr>
          <p:cNvSpPr txBox="1">
            <a:spLocks/>
          </p:cNvSpPr>
          <p:nvPr/>
        </p:nvSpPr>
        <p:spPr>
          <a:xfrm>
            <a:off x="838200" y="1473465"/>
            <a:ext cx="3236408" cy="434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8-Bit AND </a:t>
            </a:r>
            <a:r>
              <a:rPr lang="tr-TR" sz="2400" dirty="0" err="1"/>
              <a:t>Layout</a:t>
            </a:r>
            <a:endParaRPr lang="en-US" sz="2400" dirty="0"/>
          </a:p>
        </p:txBody>
      </p:sp>
      <p:pic>
        <p:nvPicPr>
          <p:cNvPr id="5" name="Picture 4" descr="A computer generated diagram of a system&#10;&#10;AI-generated content may be incorrect.">
            <a:extLst>
              <a:ext uri="{FF2B5EF4-FFF2-40B4-BE49-F238E27FC236}">
                <a16:creationId xmlns:a16="http://schemas.microsoft.com/office/drawing/2014/main" id="{3A35641A-21EA-F1EC-0941-70DF05E9BCE9}"/>
              </a:ext>
            </a:extLst>
          </p:cNvPr>
          <p:cNvPicPr>
            <a:picLocks noChangeAspect="1"/>
          </p:cNvPicPr>
          <p:nvPr/>
        </p:nvPicPr>
        <p:blipFill>
          <a:blip r:embed="rId2"/>
          <a:stretch>
            <a:fillRect/>
          </a:stretch>
        </p:blipFill>
        <p:spPr>
          <a:xfrm>
            <a:off x="853921" y="2060269"/>
            <a:ext cx="10484157" cy="4340529"/>
          </a:xfrm>
          <a:prstGeom prst="rect">
            <a:avLst/>
          </a:prstGeom>
        </p:spPr>
      </p:pic>
    </p:spTree>
    <p:extLst>
      <p:ext uri="{BB962C8B-B14F-4D97-AF65-F5344CB8AC3E}">
        <p14:creationId xmlns:p14="http://schemas.microsoft.com/office/powerpoint/2010/main" val="1299044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1621-051C-CDCF-2C64-7FA84C649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DCEF4-33F6-AA75-C9FF-CF08F87A723A}"/>
              </a:ext>
            </a:extLst>
          </p:cNvPr>
          <p:cNvSpPr>
            <a:spLocks noGrp="1"/>
          </p:cNvSpPr>
          <p:nvPr>
            <p:ph type="title"/>
          </p:nvPr>
        </p:nvSpPr>
        <p:spPr>
          <a:xfrm>
            <a:off x="822478" y="365124"/>
            <a:ext cx="10515600" cy="1325563"/>
          </a:xfrm>
        </p:spPr>
        <p:txBody>
          <a:bodyPr/>
          <a:lstStyle/>
          <a:p>
            <a:r>
              <a:rPr lang="en-US" dirty="0"/>
              <a:t>Additional Design Material</a:t>
            </a:r>
          </a:p>
        </p:txBody>
      </p:sp>
      <p:sp>
        <p:nvSpPr>
          <p:cNvPr id="8" name="Content Placeholder 2">
            <a:extLst>
              <a:ext uri="{FF2B5EF4-FFF2-40B4-BE49-F238E27FC236}">
                <a16:creationId xmlns:a16="http://schemas.microsoft.com/office/drawing/2014/main" id="{BE741443-0607-97FB-F166-03B07D5A67BB}"/>
              </a:ext>
            </a:extLst>
          </p:cNvPr>
          <p:cNvSpPr txBox="1">
            <a:spLocks/>
          </p:cNvSpPr>
          <p:nvPr/>
        </p:nvSpPr>
        <p:spPr>
          <a:xfrm>
            <a:off x="838200" y="1473465"/>
            <a:ext cx="3236408" cy="434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8-Bit </a:t>
            </a:r>
            <a:r>
              <a:rPr lang="tr-TR" sz="2400" dirty="0" err="1"/>
              <a:t>Adder</a:t>
            </a:r>
            <a:r>
              <a:rPr lang="tr-TR" sz="2400" dirty="0"/>
              <a:t> </a:t>
            </a:r>
            <a:r>
              <a:rPr lang="tr-TR" sz="2400" dirty="0" err="1"/>
              <a:t>Layout</a:t>
            </a:r>
            <a:endParaRPr lang="en-US" sz="2400" dirty="0"/>
          </a:p>
        </p:txBody>
      </p:sp>
      <p:pic>
        <p:nvPicPr>
          <p:cNvPr id="4" name="Picture 3" descr="A diagram of a maze&#10;&#10;AI-generated content may be incorrect.">
            <a:extLst>
              <a:ext uri="{FF2B5EF4-FFF2-40B4-BE49-F238E27FC236}">
                <a16:creationId xmlns:a16="http://schemas.microsoft.com/office/drawing/2014/main" id="{6A2F0A3B-DD9D-1259-775C-A68D1E43BBBD}"/>
              </a:ext>
            </a:extLst>
          </p:cNvPr>
          <p:cNvPicPr>
            <a:picLocks noChangeAspect="1"/>
          </p:cNvPicPr>
          <p:nvPr/>
        </p:nvPicPr>
        <p:blipFill>
          <a:blip r:embed="rId2"/>
          <a:stretch>
            <a:fillRect/>
          </a:stretch>
        </p:blipFill>
        <p:spPr>
          <a:xfrm>
            <a:off x="406400" y="2607333"/>
            <a:ext cx="11116733" cy="2781240"/>
          </a:xfrm>
          <a:prstGeom prst="rect">
            <a:avLst/>
          </a:prstGeom>
        </p:spPr>
      </p:pic>
    </p:spTree>
    <p:extLst>
      <p:ext uri="{BB962C8B-B14F-4D97-AF65-F5344CB8AC3E}">
        <p14:creationId xmlns:p14="http://schemas.microsoft.com/office/powerpoint/2010/main" val="4090881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9C22-D62A-3A95-7993-7FDC2EC83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EF84C-EF17-1535-FFAA-DEB5F4BB13ED}"/>
              </a:ext>
            </a:extLst>
          </p:cNvPr>
          <p:cNvSpPr>
            <a:spLocks noGrp="1"/>
          </p:cNvSpPr>
          <p:nvPr>
            <p:ph type="title"/>
          </p:nvPr>
        </p:nvSpPr>
        <p:spPr/>
        <p:txBody>
          <a:bodyPr/>
          <a:lstStyle/>
          <a:p>
            <a:r>
              <a:rPr lang="en-US" dirty="0"/>
              <a:t>Additional Design Material</a:t>
            </a:r>
          </a:p>
        </p:txBody>
      </p:sp>
      <p:sp>
        <p:nvSpPr>
          <p:cNvPr id="8" name="Content Placeholder 2">
            <a:extLst>
              <a:ext uri="{FF2B5EF4-FFF2-40B4-BE49-F238E27FC236}">
                <a16:creationId xmlns:a16="http://schemas.microsoft.com/office/drawing/2014/main" id="{A9AB1DB6-9D6A-DE12-85B1-E828A326C84E}"/>
              </a:ext>
            </a:extLst>
          </p:cNvPr>
          <p:cNvSpPr txBox="1">
            <a:spLocks/>
          </p:cNvSpPr>
          <p:nvPr/>
        </p:nvSpPr>
        <p:spPr>
          <a:xfrm>
            <a:off x="1083731" y="1450533"/>
            <a:ext cx="5257801" cy="48030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2400" dirty="0"/>
              <a:t>Zero </a:t>
            </a:r>
            <a:r>
              <a:rPr lang="tr-TR" sz="2400" dirty="0" err="1"/>
              <a:t>Flag</a:t>
            </a:r>
            <a:r>
              <a:rPr lang="tr-TR" sz="2400" dirty="0"/>
              <a:t> </a:t>
            </a:r>
            <a:r>
              <a:rPr lang="tr-TR" sz="2400" dirty="0" err="1"/>
              <a:t>Schematic</a:t>
            </a:r>
            <a:r>
              <a:rPr lang="tr-TR" sz="2400" dirty="0"/>
              <a:t> </a:t>
            </a:r>
            <a:r>
              <a:rPr lang="tr-TR" sz="2400" dirty="0" err="1"/>
              <a:t>and</a:t>
            </a:r>
            <a:r>
              <a:rPr lang="tr-TR" sz="2400" dirty="0"/>
              <a:t> </a:t>
            </a:r>
            <a:r>
              <a:rPr lang="tr-TR" sz="2400" dirty="0" err="1"/>
              <a:t>Layout</a:t>
            </a:r>
            <a:r>
              <a:rPr lang="tr-TR" sz="2400" dirty="0"/>
              <a:t> Using OR Gates</a:t>
            </a:r>
            <a:endParaRPr lang="en-US" sz="2400" dirty="0"/>
          </a:p>
        </p:txBody>
      </p:sp>
      <p:pic>
        <p:nvPicPr>
          <p:cNvPr id="4" name="Picture 3" descr="A diagram of a computer program&#10;&#10;AI-generated content may be incorrect.">
            <a:extLst>
              <a:ext uri="{FF2B5EF4-FFF2-40B4-BE49-F238E27FC236}">
                <a16:creationId xmlns:a16="http://schemas.microsoft.com/office/drawing/2014/main" id="{5E556ACD-186D-0CFD-4619-0C76D95AEA03}"/>
              </a:ext>
            </a:extLst>
          </p:cNvPr>
          <p:cNvPicPr>
            <a:picLocks noChangeAspect="1"/>
          </p:cNvPicPr>
          <p:nvPr/>
        </p:nvPicPr>
        <p:blipFill>
          <a:blip r:embed="rId2"/>
          <a:stretch>
            <a:fillRect/>
          </a:stretch>
        </p:blipFill>
        <p:spPr>
          <a:xfrm>
            <a:off x="6517643" y="1781560"/>
            <a:ext cx="5039355" cy="4711315"/>
          </a:xfrm>
          <a:prstGeom prst="rect">
            <a:avLst/>
          </a:prstGeom>
        </p:spPr>
      </p:pic>
      <p:pic>
        <p:nvPicPr>
          <p:cNvPr id="6" name="Picture 5" descr="A diagram of a computer&#10;&#10;AI-generated content may be incorrect.">
            <a:extLst>
              <a:ext uri="{FF2B5EF4-FFF2-40B4-BE49-F238E27FC236}">
                <a16:creationId xmlns:a16="http://schemas.microsoft.com/office/drawing/2014/main" id="{C189A5D6-1C66-0365-D79A-1185359ACF15}"/>
              </a:ext>
            </a:extLst>
          </p:cNvPr>
          <p:cNvPicPr>
            <a:picLocks noChangeAspect="1"/>
          </p:cNvPicPr>
          <p:nvPr/>
        </p:nvPicPr>
        <p:blipFill>
          <a:blip r:embed="rId3"/>
          <a:stretch>
            <a:fillRect/>
          </a:stretch>
        </p:blipFill>
        <p:spPr>
          <a:xfrm>
            <a:off x="535989" y="2624666"/>
            <a:ext cx="5805543" cy="3046118"/>
          </a:xfrm>
          <a:prstGeom prst="rect">
            <a:avLst/>
          </a:prstGeom>
        </p:spPr>
      </p:pic>
    </p:spTree>
    <p:extLst>
      <p:ext uri="{BB962C8B-B14F-4D97-AF65-F5344CB8AC3E}">
        <p14:creationId xmlns:p14="http://schemas.microsoft.com/office/powerpoint/2010/main" val="2674561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E75B-F48C-CC79-E428-ACB15310F68F}"/>
              </a:ext>
            </a:extLst>
          </p:cNvPr>
          <p:cNvSpPr>
            <a:spLocks noGrp="1"/>
          </p:cNvSpPr>
          <p:nvPr>
            <p:ph type="title"/>
          </p:nvPr>
        </p:nvSpPr>
        <p:spPr>
          <a:xfrm>
            <a:off x="838200" y="67808"/>
            <a:ext cx="10515600" cy="1325563"/>
          </a:xfrm>
        </p:spPr>
        <p:txBody>
          <a:bodyPr>
            <a:normAutofit fontScale="90000"/>
          </a:bodyPr>
          <a:lstStyle/>
          <a:p>
            <a:r>
              <a:rPr lang="en-US" dirty="0"/>
              <a:t>Demonstration of Addition </a:t>
            </a:r>
            <a:br>
              <a:rPr lang="en-US" dirty="0"/>
            </a:br>
            <a:r>
              <a:rPr lang="en-US" sz="3600" dirty="0"/>
              <a:t>A = 01010101</a:t>
            </a:r>
            <a:br>
              <a:rPr lang="en-US" sz="3600" dirty="0"/>
            </a:br>
            <a:r>
              <a:rPr lang="en-US" sz="3600" dirty="0"/>
              <a:t>B = </a:t>
            </a:r>
            <a:r>
              <a:rPr lang="tr-TR" sz="3600" dirty="0"/>
              <a:t>01001110</a:t>
            </a:r>
            <a:endParaRPr lang="en-US" sz="3600" dirty="0">
              <a:solidFill>
                <a:srgbClr val="FF0000"/>
              </a:solidFill>
            </a:endParaRPr>
          </a:p>
        </p:txBody>
      </p:sp>
      <p:sp>
        <p:nvSpPr>
          <p:cNvPr id="4" name="Rectangle 3">
            <a:extLst>
              <a:ext uri="{FF2B5EF4-FFF2-40B4-BE49-F238E27FC236}">
                <a16:creationId xmlns:a16="http://schemas.microsoft.com/office/drawing/2014/main" id="{664D26A9-2AA6-5591-2764-356E66F69817}"/>
              </a:ext>
            </a:extLst>
          </p:cNvPr>
          <p:cNvSpPr/>
          <p:nvPr/>
        </p:nvSpPr>
        <p:spPr>
          <a:xfrm>
            <a:off x="391886"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2C6971FA-B05F-781C-58C3-341DAEA87251}"/>
              </a:ext>
            </a:extLst>
          </p:cNvPr>
          <p:cNvGraphicFramePr>
            <a:graphicFrameLocks noGrp="1"/>
          </p:cNvGraphicFramePr>
          <p:nvPr>
            <p:extLst>
              <p:ext uri="{D42A27DB-BD31-4B8C-83A1-F6EECF244321}">
                <p14:modId xmlns:p14="http://schemas.microsoft.com/office/powerpoint/2010/main" val="1141052729"/>
              </p:ext>
            </p:extLst>
          </p:nvPr>
        </p:nvGraphicFramePr>
        <p:xfrm>
          <a:off x="1384459" y="1394580"/>
          <a:ext cx="9517744" cy="1097280"/>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a:effectLst/>
                        </a:rPr>
                        <a:t>Operation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en-US" sz="2400" b="1" kern="0" dirty="0">
                          <a:solidFill>
                            <a:schemeClr val="tx1"/>
                          </a:solidFill>
                          <a:effectLst/>
                        </a:rPr>
                        <a:t>0000</a:t>
                      </a:r>
                      <a:endParaRPr lang="en-US"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b="1" kern="0" dirty="0">
                          <a:effectLst/>
                        </a:rPr>
                        <a:t>A + B</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2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10100011</a:t>
                      </a:r>
                      <a:endParaRPr lang="en-US" sz="2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2400" b="1" dirty="0">
                          <a:solidFill>
                            <a:schemeClr val="tx1"/>
                          </a:solidFill>
                          <a:latin typeface="Calibri" panose="020F0502020204030204" pitchFamily="34" charset="0"/>
                          <a:cs typeface="Calibri" panose="020F0502020204030204" pitchFamily="34" charset="0"/>
                        </a:rPr>
                        <a:t>10100011</a:t>
                      </a:r>
                      <a:endParaRPr lang="en-US" sz="2400" b="1"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Picture 5">
            <a:extLst>
              <a:ext uri="{FF2B5EF4-FFF2-40B4-BE49-F238E27FC236}">
                <a16:creationId xmlns:a16="http://schemas.microsoft.com/office/drawing/2014/main" id="{7077A09B-BB68-C655-5EE1-4C8C97B87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566" y="2844609"/>
            <a:ext cx="10216867" cy="3592834"/>
          </a:xfrm>
          <a:prstGeom prst="rect">
            <a:avLst/>
          </a:prstGeom>
        </p:spPr>
      </p:pic>
    </p:spTree>
    <p:extLst>
      <p:ext uri="{BB962C8B-B14F-4D97-AF65-F5344CB8AC3E}">
        <p14:creationId xmlns:p14="http://schemas.microsoft.com/office/powerpoint/2010/main" val="193793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B5EB9-0DEC-E209-D45C-F4802D2B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40B50-8223-2B2F-E21F-9A6A45F0564B}"/>
              </a:ext>
            </a:extLst>
          </p:cNvPr>
          <p:cNvSpPr>
            <a:spLocks noGrp="1"/>
          </p:cNvSpPr>
          <p:nvPr>
            <p:ph type="title"/>
          </p:nvPr>
        </p:nvSpPr>
        <p:spPr>
          <a:xfrm>
            <a:off x="702733" y="67808"/>
            <a:ext cx="7239000" cy="1325563"/>
          </a:xfrm>
        </p:spPr>
        <p:txBody>
          <a:bodyPr>
            <a:normAutofit fontScale="90000"/>
          </a:bodyPr>
          <a:lstStyle/>
          <a:p>
            <a:r>
              <a:rPr lang="en-US" dirty="0"/>
              <a:t>Demonstration of Addition </a:t>
            </a:r>
            <a:br>
              <a:rPr lang="en-US" dirty="0"/>
            </a:br>
            <a:r>
              <a:rPr lang="en-US" sz="3600" dirty="0"/>
              <a:t>A = 01010101</a:t>
            </a:r>
            <a:br>
              <a:rPr lang="en-US" sz="3600" dirty="0"/>
            </a:br>
            <a:r>
              <a:rPr lang="en-US" sz="3600" dirty="0"/>
              <a:t>B = </a:t>
            </a:r>
            <a:r>
              <a:rPr lang="tr-TR" sz="3600" dirty="0"/>
              <a:t>01001110</a:t>
            </a:r>
            <a:endParaRPr lang="en-US" sz="3600" dirty="0">
              <a:solidFill>
                <a:srgbClr val="FF0000"/>
              </a:solidFill>
            </a:endParaRPr>
          </a:p>
        </p:txBody>
      </p:sp>
      <p:sp>
        <p:nvSpPr>
          <p:cNvPr id="4" name="Rectangle 3">
            <a:extLst>
              <a:ext uri="{FF2B5EF4-FFF2-40B4-BE49-F238E27FC236}">
                <a16:creationId xmlns:a16="http://schemas.microsoft.com/office/drawing/2014/main" id="{4E2ABC0A-DAB2-A9AE-DD57-93B8D6EDF7B4}"/>
              </a:ext>
            </a:extLst>
          </p:cNvPr>
          <p:cNvSpPr/>
          <p:nvPr/>
        </p:nvSpPr>
        <p:spPr>
          <a:xfrm>
            <a:off x="344555"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5" name="Picture 4">
            <a:extLst>
              <a:ext uri="{FF2B5EF4-FFF2-40B4-BE49-F238E27FC236}">
                <a16:creationId xmlns:a16="http://schemas.microsoft.com/office/drawing/2014/main" id="{B4C8C7E7-1BA7-E64C-344A-FEA907CF5A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890" y="1394136"/>
            <a:ext cx="7696219" cy="5396056"/>
          </a:xfrm>
          <a:prstGeom prst="rect">
            <a:avLst/>
          </a:prstGeom>
        </p:spPr>
      </p:pic>
      <p:sp>
        <p:nvSpPr>
          <p:cNvPr id="7" name="Title 1">
            <a:extLst>
              <a:ext uri="{FF2B5EF4-FFF2-40B4-BE49-F238E27FC236}">
                <a16:creationId xmlns:a16="http://schemas.microsoft.com/office/drawing/2014/main" id="{30DF543F-A981-A51B-B729-82B6C349287A}"/>
              </a:ext>
            </a:extLst>
          </p:cNvPr>
          <p:cNvSpPr txBox="1">
            <a:spLocks/>
          </p:cNvSpPr>
          <p:nvPr/>
        </p:nvSpPr>
        <p:spPr>
          <a:xfrm>
            <a:off x="7941733" y="440342"/>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spTree>
    <p:extLst>
      <p:ext uri="{BB962C8B-B14F-4D97-AF65-F5344CB8AC3E}">
        <p14:creationId xmlns:p14="http://schemas.microsoft.com/office/powerpoint/2010/main" val="163023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CE4A3-6C76-3D28-D336-1C7E3DE57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EB951-8696-6D02-24A3-BC6280B86DBC}"/>
              </a:ext>
            </a:extLst>
          </p:cNvPr>
          <p:cNvSpPr>
            <a:spLocks noGrp="1"/>
          </p:cNvSpPr>
          <p:nvPr>
            <p:ph type="title"/>
          </p:nvPr>
        </p:nvSpPr>
        <p:spPr>
          <a:xfrm>
            <a:off x="702733" y="67808"/>
            <a:ext cx="7239000" cy="1325563"/>
          </a:xfrm>
        </p:spPr>
        <p:txBody>
          <a:bodyPr>
            <a:normAutofit fontScale="90000"/>
          </a:bodyPr>
          <a:lstStyle/>
          <a:p>
            <a:r>
              <a:rPr lang="en-US" dirty="0"/>
              <a:t>Demonstration of Addition </a:t>
            </a:r>
            <a:br>
              <a:rPr lang="en-US" dirty="0"/>
            </a:br>
            <a:r>
              <a:rPr lang="en-US" sz="3600" dirty="0"/>
              <a:t>A = 01010101</a:t>
            </a:r>
            <a:br>
              <a:rPr lang="en-US" sz="3600" dirty="0"/>
            </a:br>
            <a:r>
              <a:rPr lang="en-US" sz="3600" dirty="0"/>
              <a:t>B = </a:t>
            </a:r>
            <a:r>
              <a:rPr lang="tr-TR" sz="3600" dirty="0"/>
              <a:t>01001110</a:t>
            </a:r>
            <a:endParaRPr lang="en-US" sz="3600" dirty="0">
              <a:solidFill>
                <a:srgbClr val="FF0000"/>
              </a:solidFill>
            </a:endParaRPr>
          </a:p>
        </p:txBody>
      </p:sp>
      <p:sp>
        <p:nvSpPr>
          <p:cNvPr id="4" name="Rectangle 3">
            <a:extLst>
              <a:ext uri="{FF2B5EF4-FFF2-40B4-BE49-F238E27FC236}">
                <a16:creationId xmlns:a16="http://schemas.microsoft.com/office/drawing/2014/main" id="{8768BA7B-D9D8-D943-FD73-4ED1C9F00FEE}"/>
              </a:ext>
            </a:extLst>
          </p:cNvPr>
          <p:cNvSpPr/>
          <p:nvPr/>
        </p:nvSpPr>
        <p:spPr>
          <a:xfrm>
            <a:off x="344555"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6B5E8811-027A-0C78-50A2-FEFD39A3EC51}"/>
              </a:ext>
            </a:extLst>
          </p:cNvPr>
          <p:cNvSpPr txBox="1">
            <a:spLocks/>
          </p:cNvSpPr>
          <p:nvPr/>
        </p:nvSpPr>
        <p:spPr>
          <a:xfrm>
            <a:off x="7941733" y="440342"/>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9" name="Picture 8" descr="A screen shot of a graph&#10;&#10;AI-generated content may be incorrect.">
            <a:extLst>
              <a:ext uri="{FF2B5EF4-FFF2-40B4-BE49-F238E27FC236}">
                <a16:creationId xmlns:a16="http://schemas.microsoft.com/office/drawing/2014/main" id="{10DAC2EE-EA87-319C-DE46-F2A5A14B0A59}"/>
              </a:ext>
            </a:extLst>
          </p:cNvPr>
          <p:cNvPicPr>
            <a:picLocks noChangeAspect="1"/>
          </p:cNvPicPr>
          <p:nvPr/>
        </p:nvPicPr>
        <p:blipFill>
          <a:blip r:embed="rId2"/>
          <a:stretch>
            <a:fillRect/>
          </a:stretch>
        </p:blipFill>
        <p:spPr>
          <a:xfrm>
            <a:off x="2047370" y="1396373"/>
            <a:ext cx="8097260" cy="5393819"/>
          </a:xfrm>
          <a:prstGeom prst="rect">
            <a:avLst/>
          </a:prstGeom>
        </p:spPr>
      </p:pic>
    </p:spTree>
    <p:extLst>
      <p:ext uri="{BB962C8B-B14F-4D97-AF65-F5344CB8AC3E}">
        <p14:creationId xmlns:p14="http://schemas.microsoft.com/office/powerpoint/2010/main" val="2932223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57912-ADCD-9D56-09E1-52B9700CB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9D182-4B48-1638-40B1-BCF3456885BC}"/>
              </a:ext>
            </a:extLst>
          </p:cNvPr>
          <p:cNvSpPr>
            <a:spLocks noGrp="1"/>
          </p:cNvSpPr>
          <p:nvPr>
            <p:ph type="title"/>
          </p:nvPr>
        </p:nvSpPr>
        <p:spPr>
          <a:xfrm>
            <a:off x="838200" y="67808"/>
            <a:ext cx="10515600" cy="1325563"/>
          </a:xfrm>
        </p:spPr>
        <p:txBody>
          <a:bodyPr>
            <a:normAutofit fontScale="90000"/>
          </a:bodyPr>
          <a:lstStyle/>
          <a:p>
            <a:r>
              <a:rPr lang="en-US" dirty="0"/>
              <a:t>Demonstration of Addition </a:t>
            </a:r>
            <a:br>
              <a:rPr lang="en-US" dirty="0"/>
            </a:br>
            <a:r>
              <a:rPr lang="en-US" sz="3600" dirty="0"/>
              <a:t>A = 01010101</a:t>
            </a:r>
            <a:br>
              <a:rPr lang="en-US" sz="3600" dirty="0"/>
            </a:br>
            <a:r>
              <a:rPr lang="en-US" sz="3600" dirty="0"/>
              <a:t>B = </a:t>
            </a:r>
            <a:r>
              <a:rPr lang="tr-TR" sz="3600" dirty="0"/>
              <a:t>01001110</a:t>
            </a:r>
            <a:endParaRPr lang="en-US" sz="3600" dirty="0">
              <a:solidFill>
                <a:srgbClr val="FF0000"/>
              </a:solidFill>
            </a:endParaRPr>
          </a:p>
        </p:txBody>
      </p:sp>
      <p:sp>
        <p:nvSpPr>
          <p:cNvPr id="4" name="Rectangle 3">
            <a:extLst>
              <a:ext uri="{FF2B5EF4-FFF2-40B4-BE49-F238E27FC236}">
                <a16:creationId xmlns:a16="http://schemas.microsoft.com/office/drawing/2014/main" id="{E48CFE14-DBBA-EA2C-103F-D80D8E5AAC27}"/>
              </a:ext>
            </a:extLst>
          </p:cNvPr>
          <p:cNvSpPr/>
          <p:nvPr/>
        </p:nvSpPr>
        <p:spPr>
          <a:xfrm>
            <a:off x="391886" y="1393371"/>
            <a:ext cx="8743647"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B3C72F6F-49F9-CBB2-03DB-15029A07D7BE}"/>
              </a:ext>
            </a:extLst>
          </p:cNvPr>
          <p:cNvGraphicFramePr>
            <a:graphicFrameLocks noGrp="1"/>
          </p:cNvGraphicFramePr>
          <p:nvPr>
            <p:extLst>
              <p:ext uri="{D42A27DB-BD31-4B8C-83A1-F6EECF244321}">
                <p14:modId xmlns:p14="http://schemas.microsoft.com/office/powerpoint/2010/main" val="2045889659"/>
              </p:ext>
            </p:extLst>
          </p:nvPr>
        </p:nvGraphicFramePr>
        <p:xfrm>
          <a:off x="6552308" y="194648"/>
          <a:ext cx="5461892" cy="914315"/>
        </p:xfrm>
        <a:graphic>
          <a:graphicData uri="http://schemas.openxmlformats.org/drawingml/2006/table">
            <a:tbl>
              <a:tblPr firstRow="1" bandRow="1">
                <a:tableStyleId>{5C22544A-7EE6-4342-B048-85BDC9FD1C3A}</a:tableStyleId>
              </a:tblPr>
              <a:tblGrid>
                <a:gridCol w="1365473">
                  <a:extLst>
                    <a:ext uri="{9D8B030D-6E8A-4147-A177-3AD203B41FA5}">
                      <a16:colId xmlns:a16="http://schemas.microsoft.com/office/drawing/2014/main" val="4247149876"/>
                    </a:ext>
                  </a:extLst>
                </a:gridCol>
                <a:gridCol w="1365473">
                  <a:extLst>
                    <a:ext uri="{9D8B030D-6E8A-4147-A177-3AD203B41FA5}">
                      <a16:colId xmlns:a16="http://schemas.microsoft.com/office/drawing/2014/main" val="508427375"/>
                    </a:ext>
                  </a:extLst>
                </a:gridCol>
                <a:gridCol w="1365473">
                  <a:extLst>
                    <a:ext uri="{9D8B030D-6E8A-4147-A177-3AD203B41FA5}">
                      <a16:colId xmlns:a16="http://schemas.microsoft.com/office/drawing/2014/main" val="213524179"/>
                    </a:ext>
                  </a:extLst>
                </a:gridCol>
                <a:gridCol w="1365473">
                  <a:extLst>
                    <a:ext uri="{9D8B030D-6E8A-4147-A177-3AD203B41FA5}">
                      <a16:colId xmlns:a16="http://schemas.microsoft.com/office/drawing/2014/main" val="3023160714"/>
                    </a:ext>
                  </a:extLst>
                </a:gridCol>
              </a:tblGrid>
              <a:tr h="514209">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a:effectLst/>
                        </a:rPr>
                        <a:t>Operation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bg1"/>
                          </a:solidFill>
                          <a:effectLst/>
                        </a:rPr>
                        <a:t>Expected Answer</a:t>
                      </a: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bg1"/>
                          </a:solidFill>
                        </a:rPr>
                        <a:t>Result of the simulation</a:t>
                      </a:r>
                    </a:p>
                  </a:txBody>
                  <a:tcPr/>
                </a:tc>
                <a:extLst>
                  <a:ext uri="{0D108BD9-81ED-4DB2-BD59-A6C34878D82A}">
                    <a16:rowId xmlns:a16="http://schemas.microsoft.com/office/drawing/2014/main" val="3025210268"/>
                  </a:ext>
                </a:extLst>
              </a:tr>
              <a:tr h="400106">
                <a:tc>
                  <a:txBody>
                    <a:bodyPr/>
                    <a:lstStyle/>
                    <a:p>
                      <a:pPr algn="ctr">
                        <a:lnSpc>
                          <a:spcPct val="115000"/>
                        </a:lnSpc>
                        <a:spcAft>
                          <a:spcPts val="800"/>
                        </a:spcAft>
                        <a:buNone/>
                      </a:pPr>
                      <a:r>
                        <a:rPr lang="en-US" sz="1800" b="1" kern="0" dirty="0">
                          <a:solidFill>
                            <a:schemeClr val="tx1"/>
                          </a:solidFill>
                          <a:effectLst/>
                        </a:rPr>
                        <a:t>0000</a:t>
                      </a:r>
                      <a:endParaRPr lang="en-US" sz="18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b="1" kern="0" dirty="0">
                          <a:effectLst/>
                        </a:rPr>
                        <a:t>A + B</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10100011</a:t>
                      </a:r>
                      <a:endParaRPr lang="en-US"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800" b="1" dirty="0">
                          <a:solidFill>
                            <a:schemeClr val="tx1"/>
                          </a:solidFill>
                          <a:latin typeface="Calibri" panose="020F0502020204030204" pitchFamily="34" charset="0"/>
                          <a:cs typeface="Calibri" panose="020F0502020204030204" pitchFamily="34" charset="0"/>
                        </a:rPr>
                        <a:t>10100011</a:t>
                      </a:r>
                      <a:endParaRPr lang="en-US" sz="1800" b="1"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Picture 4">
            <a:extLst>
              <a:ext uri="{FF2B5EF4-FFF2-40B4-BE49-F238E27FC236}">
                <a16:creationId xmlns:a16="http://schemas.microsoft.com/office/drawing/2014/main" id="{C4032687-4851-0B6D-30EF-DD5574FBE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630" y="1456791"/>
            <a:ext cx="7062339" cy="5269981"/>
          </a:xfrm>
          <a:prstGeom prst="rect">
            <a:avLst/>
          </a:prstGeom>
        </p:spPr>
      </p:pic>
      <p:sp>
        <p:nvSpPr>
          <p:cNvPr id="7" name="TextBox 6">
            <a:extLst>
              <a:ext uri="{FF2B5EF4-FFF2-40B4-BE49-F238E27FC236}">
                <a16:creationId xmlns:a16="http://schemas.microsoft.com/office/drawing/2014/main" id="{15367506-85B7-7652-6167-53D6AD1284C1}"/>
              </a:ext>
            </a:extLst>
          </p:cNvPr>
          <p:cNvSpPr txBox="1"/>
          <p:nvPr/>
        </p:nvSpPr>
        <p:spPr>
          <a:xfrm>
            <a:off x="9642322" y="2698447"/>
            <a:ext cx="1982411" cy="2585323"/>
          </a:xfrm>
          <a:prstGeom prst="rect">
            <a:avLst/>
          </a:prstGeom>
          <a:noFill/>
        </p:spPr>
        <p:txBody>
          <a:bodyPr wrap="square" rtlCol="0">
            <a:spAutoFit/>
          </a:bodyPr>
          <a:lstStyle/>
          <a:p>
            <a:r>
              <a:rPr lang="en-US" dirty="0"/>
              <a:t>The simulation verifies the correct functionality of the 8-bit adder block.</a:t>
            </a:r>
            <a:r>
              <a:rPr lang="tr-TR" dirty="0"/>
              <a:t> </a:t>
            </a:r>
          </a:p>
          <a:p>
            <a:r>
              <a:rPr lang="tr-TR" dirty="0"/>
              <a:t>Result0 </a:t>
            </a:r>
            <a:r>
              <a:rPr lang="tr-TR" dirty="0" err="1"/>
              <a:t>refers</a:t>
            </a:r>
            <a:r>
              <a:rPr lang="tr-TR" dirty="0"/>
              <a:t> LSB </a:t>
            </a:r>
            <a:r>
              <a:rPr lang="tr-TR" dirty="0" err="1"/>
              <a:t>and</a:t>
            </a:r>
            <a:r>
              <a:rPr lang="tr-TR" dirty="0"/>
              <a:t> Result7 </a:t>
            </a:r>
            <a:r>
              <a:rPr lang="tr-TR" dirty="0" err="1"/>
              <a:t>refers</a:t>
            </a:r>
            <a:r>
              <a:rPr lang="tr-TR" dirty="0"/>
              <a:t> MSB.</a:t>
            </a:r>
            <a:endParaRPr lang="en-US" dirty="0"/>
          </a:p>
        </p:txBody>
      </p:sp>
    </p:spTree>
    <p:extLst>
      <p:ext uri="{BB962C8B-B14F-4D97-AF65-F5344CB8AC3E}">
        <p14:creationId xmlns:p14="http://schemas.microsoft.com/office/powerpoint/2010/main" val="3222771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6BB6A-BD15-03B1-0197-402C6605B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DA143-FA45-420B-117D-36FACC14D24C}"/>
              </a:ext>
            </a:extLst>
          </p:cNvPr>
          <p:cNvSpPr>
            <a:spLocks noGrp="1"/>
          </p:cNvSpPr>
          <p:nvPr>
            <p:ph type="title"/>
          </p:nvPr>
        </p:nvSpPr>
        <p:spPr>
          <a:xfrm>
            <a:off x="838200" y="67808"/>
            <a:ext cx="10515600" cy="1325563"/>
          </a:xfrm>
        </p:spPr>
        <p:txBody>
          <a:bodyPr>
            <a:normAutofit fontScale="90000"/>
          </a:bodyPr>
          <a:lstStyle/>
          <a:p>
            <a:r>
              <a:rPr lang="en-US" dirty="0"/>
              <a:t>Demonstration of Subtraction </a:t>
            </a:r>
            <a:br>
              <a:rPr lang="en-US" dirty="0"/>
            </a:br>
            <a:r>
              <a:rPr lang="en-US" sz="2700" dirty="0"/>
              <a:t>Last 2 digit of </a:t>
            </a:r>
            <a:r>
              <a:rPr lang="tr-TR" sz="2700" dirty="0" err="1"/>
              <a:t>my</a:t>
            </a:r>
            <a:r>
              <a:rPr lang="tr-TR" sz="2700" dirty="0"/>
              <a:t> </a:t>
            </a:r>
            <a:r>
              <a:rPr lang="en-US" sz="2700" dirty="0"/>
              <a:t>Student ID in binary </a:t>
            </a:r>
            <a:r>
              <a:rPr lang="tr-TR" sz="2700" dirty="0"/>
              <a:t>=&gt; A = 01001110</a:t>
            </a:r>
            <a:br>
              <a:rPr lang="tr-TR" sz="2700" dirty="0"/>
            </a:br>
            <a:r>
              <a:rPr lang="tr-TR" sz="2700" dirty="0"/>
              <a:t>B = 1</a:t>
            </a:r>
            <a:endParaRPr lang="en-US" sz="3600" dirty="0"/>
          </a:p>
        </p:txBody>
      </p:sp>
      <p:sp>
        <p:nvSpPr>
          <p:cNvPr id="4" name="Rectangle 3">
            <a:extLst>
              <a:ext uri="{FF2B5EF4-FFF2-40B4-BE49-F238E27FC236}">
                <a16:creationId xmlns:a16="http://schemas.microsoft.com/office/drawing/2014/main" id="{5A98D1C0-45CE-2685-D9E3-83B36EA40C50}"/>
              </a:ext>
            </a:extLst>
          </p:cNvPr>
          <p:cNvSpPr/>
          <p:nvPr/>
        </p:nvSpPr>
        <p:spPr>
          <a:xfrm>
            <a:off x="391886" y="1393371"/>
            <a:ext cx="114529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BD59B72-765C-85B8-DB93-624490373FBE}"/>
              </a:ext>
            </a:extLst>
          </p:cNvPr>
          <p:cNvGraphicFramePr>
            <a:graphicFrameLocks noGrp="1"/>
          </p:cNvGraphicFramePr>
          <p:nvPr>
            <p:extLst>
              <p:ext uri="{D42A27DB-BD31-4B8C-83A1-F6EECF244321}">
                <p14:modId xmlns:p14="http://schemas.microsoft.com/office/powerpoint/2010/main" val="116296241"/>
              </p:ext>
            </p:extLst>
          </p:nvPr>
        </p:nvGraphicFramePr>
        <p:xfrm>
          <a:off x="1384459" y="1394580"/>
          <a:ext cx="9517744" cy="1097280"/>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ctr">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solidFill>
                            <a:schemeClr val="bg1"/>
                          </a:solidFill>
                          <a:effectLst/>
                        </a:rPr>
                        <a:t>Expected Answer</a:t>
                      </a:r>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800" dirty="0">
                          <a:solidFill>
                            <a:schemeClr val="bg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tr-TR" sz="2400" kern="0" dirty="0">
                          <a:solidFill>
                            <a:schemeClr val="tx1"/>
                          </a:solidFill>
                          <a:effectLst/>
                        </a:rPr>
                        <a:t>0001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effectLst/>
                        </a:rPr>
                        <a:t>A -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2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01001101</a:t>
                      </a:r>
                      <a:endParaRPr lang="en-US" sz="2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2400" b="1" dirty="0">
                          <a:solidFill>
                            <a:schemeClr val="tx1"/>
                          </a:solidFill>
                          <a:latin typeface="Calibri" panose="020F0502020204030204" pitchFamily="34" charset="0"/>
                          <a:cs typeface="Calibri" panose="020F0502020204030204" pitchFamily="34" charset="0"/>
                        </a:rPr>
                        <a:t>01001101</a:t>
                      </a:r>
                      <a:endParaRPr lang="en-US" sz="2400" b="1"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Picture 7">
            <a:extLst>
              <a:ext uri="{FF2B5EF4-FFF2-40B4-BE49-F238E27FC236}">
                <a16:creationId xmlns:a16="http://schemas.microsoft.com/office/drawing/2014/main" id="{AAF2113F-A122-3BB9-B17D-64B7937C1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122" y="2718934"/>
            <a:ext cx="10145755" cy="3444799"/>
          </a:xfrm>
          <a:prstGeom prst="rect">
            <a:avLst/>
          </a:prstGeom>
        </p:spPr>
      </p:pic>
    </p:spTree>
    <p:extLst>
      <p:ext uri="{BB962C8B-B14F-4D97-AF65-F5344CB8AC3E}">
        <p14:creationId xmlns:p14="http://schemas.microsoft.com/office/powerpoint/2010/main" val="1682551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B179-8EC1-99FE-B36F-2FBDEF4A0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57701-A86C-22FD-A010-542ACEE6BA74}"/>
              </a:ext>
            </a:extLst>
          </p:cNvPr>
          <p:cNvSpPr>
            <a:spLocks noGrp="1"/>
          </p:cNvSpPr>
          <p:nvPr>
            <p:ph type="title"/>
          </p:nvPr>
        </p:nvSpPr>
        <p:spPr>
          <a:xfrm>
            <a:off x="838200" y="67808"/>
            <a:ext cx="10515600" cy="1325563"/>
          </a:xfrm>
        </p:spPr>
        <p:txBody>
          <a:bodyPr>
            <a:normAutofit fontScale="90000"/>
          </a:bodyPr>
          <a:lstStyle/>
          <a:p>
            <a:r>
              <a:rPr lang="en-US" dirty="0"/>
              <a:t>Demonstration of Subtraction </a:t>
            </a:r>
            <a:br>
              <a:rPr lang="en-US" dirty="0"/>
            </a:br>
            <a:r>
              <a:rPr lang="en-US" sz="2700" dirty="0"/>
              <a:t>Last 2 digit of </a:t>
            </a:r>
            <a:r>
              <a:rPr lang="tr-TR" sz="2700" dirty="0" err="1"/>
              <a:t>my</a:t>
            </a:r>
            <a:r>
              <a:rPr lang="tr-TR" sz="2700" dirty="0"/>
              <a:t> </a:t>
            </a:r>
            <a:r>
              <a:rPr lang="en-US" sz="2700" dirty="0"/>
              <a:t>Student ID in binary </a:t>
            </a:r>
            <a:r>
              <a:rPr lang="tr-TR" sz="2700" dirty="0"/>
              <a:t>=&gt; A = 01001110</a:t>
            </a:r>
            <a:br>
              <a:rPr lang="tr-TR" sz="2700" dirty="0"/>
            </a:br>
            <a:r>
              <a:rPr lang="tr-TR" sz="2700" dirty="0"/>
              <a:t>B = 1</a:t>
            </a:r>
            <a:endParaRPr lang="en-US" sz="3600" dirty="0"/>
          </a:p>
        </p:txBody>
      </p:sp>
      <p:sp>
        <p:nvSpPr>
          <p:cNvPr id="4" name="Rectangle 3">
            <a:extLst>
              <a:ext uri="{FF2B5EF4-FFF2-40B4-BE49-F238E27FC236}">
                <a16:creationId xmlns:a16="http://schemas.microsoft.com/office/drawing/2014/main" id="{D8EA3CFC-6F51-7BAF-A738-7239C2395F1F}"/>
              </a:ext>
            </a:extLst>
          </p:cNvPr>
          <p:cNvSpPr/>
          <p:nvPr/>
        </p:nvSpPr>
        <p:spPr>
          <a:xfrm>
            <a:off x="391886" y="1393371"/>
            <a:ext cx="114529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614068FF-AEE2-9916-C277-2348B24CF941}"/>
              </a:ext>
            </a:extLst>
          </p:cNvPr>
          <p:cNvSpPr txBox="1">
            <a:spLocks/>
          </p:cNvSpPr>
          <p:nvPr/>
        </p:nvSpPr>
        <p:spPr>
          <a:xfrm>
            <a:off x="8597544" y="482675"/>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pic>
        <p:nvPicPr>
          <p:cNvPr id="7" name="Picture 6">
            <a:extLst>
              <a:ext uri="{FF2B5EF4-FFF2-40B4-BE49-F238E27FC236}">
                <a16:creationId xmlns:a16="http://schemas.microsoft.com/office/drawing/2014/main" id="{3BF7DCB3-DD77-F3D6-F677-DCF958C97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9331" y="1393371"/>
            <a:ext cx="7930669" cy="5250870"/>
          </a:xfrm>
          <a:prstGeom prst="rect">
            <a:avLst/>
          </a:prstGeom>
        </p:spPr>
      </p:pic>
    </p:spTree>
    <p:extLst>
      <p:ext uri="{BB962C8B-B14F-4D97-AF65-F5344CB8AC3E}">
        <p14:creationId xmlns:p14="http://schemas.microsoft.com/office/powerpoint/2010/main" val="1388469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D5A3-C4A9-D9B7-71C2-3A18EEB40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BE0D3-D97A-084F-C70D-54990DD5B031}"/>
              </a:ext>
            </a:extLst>
          </p:cNvPr>
          <p:cNvSpPr>
            <a:spLocks noGrp="1"/>
          </p:cNvSpPr>
          <p:nvPr>
            <p:ph type="title"/>
          </p:nvPr>
        </p:nvSpPr>
        <p:spPr>
          <a:xfrm>
            <a:off x="838200" y="67808"/>
            <a:ext cx="10515600" cy="1325563"/>
          </a:xfrm>
        </p:spPr>
        <p:txBody>
          <a:bodyPr>
            <a:normAutofit fontScale="90000"/>
          </a:bodyPr>
          <a:lstStyle/>
          <a:p>
            <a:r>
              <a:rPr lang="en-US" dirty="0"/>
              <a:t>Demonstration of Subtraction </a:t>
            </a:r>
            <a:br>
              <a:rPr lang="en-US" dirty="0"/>
            </a:br>
            <a:r>
              <a:rPr lang="en-US" sz="2700" dirty="0"/>
              <a:t>Last 2 digit of </a:t>
            </a:r>
            <a:r>
              <a:rPr lang="tr-TR" sz="2700" dirty="0" err="1"/>
              <a:t>my</a:t>
            </a:r>
            <a:r>
              <a:rPr lang="tr-TR" sz="2700" dirty="0"/>
              <a:t> </a:t>
            </a:r>
            <a:r>
              <a:rPr lang="en-US" sz="2700" dirty="0"/>
              <a:t>Student ID in binary </a:t>
            </a:r>
            <a:r>
              <a:rPr lang="tr-TR" sz="2700" dirty="0"/>
              <a:t>=&gt; A = 01001110</a:t>
            </a:r>
            <a:br>
              <a:rPr lang="tr-TR" sz="2700" dirty="0"/>
            </a:br>
            <a:r>
              <a:rPr lang="tr-TR" sz="2700" dirty="0"/>
              <a:t>B = 1</a:t>
            </a:r>
            <a:endParaRPr lang="en-US" sz="3600" dirty="0"/>
          </a:p>
        </p:txBody>
      </p:sp>
      <p:sp>
        <p:nvSpPr>
          <p:cNvPr id="4" name="Rectangle 3">
            <a:extLst>
              <a:ext uri="{FF2B5EF4-FFF2-40B4-BE49-F238E27FC236}">
                <a16:creationId xmlns:a16="http://schemas.microsoft.com/office/drawing/2014/main" id="{4AB2D640-2838-9A18-3F15-EDAE52AAD5D0}"/>
              </a:ext>
            </a:extLst>
          </p:cNvPr>
          <p:cNvSpPr/>
          <p:nvPr/>
        </p:nvSpPr>
        <p:spPr>
          <a:xfrm>
            <a:off x="391886" y="1393371"/>
            <a:ext cx="114529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5FBB4012-25A9-3648-D4B1-FA09E259744E}"/>
              </a:ext>
            </a:extLst>
          </p:cNvPr>
          <p:cNvSpPr txBox="1">
            <a:spLocks/>
          </p:cNvSpPr>
          <p:nvPr/>
        </p:nvSpPr>
        <p:spPr>
          <a:xfrm>
            <a:off x="8597544" y="482675"/>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7" name="Picture 6">
            <a:extLst>
              <a:ext uri="{FF2B5EF4-FFF2-40B4-BE49-F238E27FC236}">
                <a16:creationId xmlns:a16="http://schemas.microsoft.com/office/drawing/2014/main" id="{20BC51B1-FEF8-6993-A031-8E9DAAA11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8003" y="1452202"/>
            <a:ext cx="7800745" cy="5183680"/>
          </a:xfrm>
          <a:prstGeom prst="rect">
            <a:avLst/>
          </a:prstGeom>
        </p:spPr>
      </p:pic>
    </p:spTree>
    <p:extLst>
      <p:ext uri="{BB962C8B-B14F-4D97-AF65-F5344CB8AC3E}">
        <p14:creationId xmlns:p14="http://schemas.microsoft.com/office/powerpoint/2010/main" val="1877893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38C96-3881-D79B-E202-D6C087708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116E-A715-3102-BC1C-A83F8F9A80AE}"/>
              </a:ext>
            </a:extLst>
          </p:cNvPr>
          <p:cNvSpPr>
            <a:spLocks noGrp="1"/>
          </p:cNvSpPr>
          <p:nvPr>
            <p:ph type="title"/>
          </p:nvPr>
        </p:nvSpPr>
        <p:spPr>
          <a:xfrm>
            <a:off x="838200" y="67808"/>
            <a:ext cx="10515600" cy="1325563"/>
          </a:xfrm>
        </p:spPr>
        <p:txBody>
          <a:bodyPr>
            <a:normAutofit fontScale="90000"/>
          </a:bodyPr>
          <a:lstStyle/>
          <a:p>
            <a:r>
              <a:rPr lang="en-US" dirty="0"/>
              <a:t>Demonstration of Subtraction </a:t>
            </a:r>
            <a:br>
              <a:rPr lang="en-US" dirty="0"/>
            </a:br>
            <a:r>
              <a:rPr lang="en-US" sz="2700" dirty="0"/>
              <a:t>Last 2 digit of </a:t>
            </a:r>
            <a:r>
              <a:rPr lang="tr-TR" sz="2700" dirty="0" err="1"/>
              <a:t>my</a:t>
            </a:r>
            <a:r>
              <a:rPr lang="tr-TR" sz="2700" dirty="0"/>
              <a:t> </a:t>
            </a:r>
            <a:r>
              <a:rPr lang="en-US" sz="2700" dirty="0"/>
              <a:t>Student ID in binary </a:t>
            </a:r>
            <a:r>
              <a:rPr lang="tr-TR" sz="2700" dirty="0"/>
              <a:t>=&gt; A = 01001110</a:t>
            </a:r>
            <a:br>
              <a:rPr lang="tr-TR" sz="2700" dirty="0"/>
            </a:br>
            <a:r>
              <a:rPr lang="tr-TR" sz="2700" dirty="0"/>
              <a:t>B = 1</a:t>
            </a:r>
            <a:endParaRPr lang="en-US" sz="3600" dirty="0"/>
          </a:p>
        </p:txBody>
      </p:sp>
      <p:sp>
        <p:nvSpPr>
          <p:cNvPr id="4" name="Rectangle 3">
            <a:extLst>
              <a:ext uri="{FF2B5EF4-FFF2-40B4-BE49-F238E27FC236}">
                <a16:creationId xmlns:a16="http://schemas.microsoft.com/office/drawing/2014/main" id="{940FBCD1-90B2-D927-86D9-64C7947A9599}"/>
              </a:ext>
            </a:extLst>
          </p:cNvPr>
          <p:cNvSpPr/>
          <p:nvPr/>
        </p:nvSpPr>
        <p:spPr>
          <a:xfrm>
            <a:off x="479576" y="1549400"/>
            <a:ext cx="11232847" cy="506911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35D7B4F1-6F81-4BFA-7497-EB2666EC8982}"/>
              </a:ext>
            </a:extLst>
          </p:cNvPr>
          <p:cNvGraphicFramePr>
            <a:graphicFrameLocks noGrp="1"/>
          </p:cNvGraphicFramePr>
          <p:nvPr>
            <p:extLst>
              <p:ext uri="{D42A27DB-BD31-4B8C-83A1-F6EECF244321}">
                <p14:modId xmlns:p14="http://schemas.microsoft.com/office/powerpoint/2010/main" val="216039137"/>
              </p:ext>
            </p:extLst>
          </p:nvPr>
        </p:nvGraphicFramePr>
        <p:xfrm>
          <a:off x="7695370" y="336801"/>
          <a:ext cx="4420428" cy="1037771"/>
        </p:xfrm>
        <a:graphic>
          <a:graphicData uri="http://schemas.openxmlformats.org/drawingml/2006/table">
            <a:tbl>
              <a:tblPr firstRow="1" bandRow="1">
                <a:tableStyleId>{5C22544A-7EE6-4342-B048-85BDC9FD1C3A}</a:tableStyleId>
              </a:tblPr>
              <a:tblGrid>
                <a:gridCol w="1105107">
                  <a:extLst>
                    <a:ext uri="{9D8B030D-6E8A-4147-A177-3AD203B41FA5}">
                      <a16:colId xmlns:a16="http://schemas.microsoft.com/office/drawing/2014/main" val="4247149876"/>
                    </a:ext>
                  </a:extLst>
                </a:gridCol>
                <a:gridCol w="1105107">
                  <a:extLst>
                    <a:ext uri="{9D8B030D-6E8A-4147-A177-3AD203B41FA5}">
                      <a16:colId xmlns:a16="http://schemas.microsoft.com/office/drawing/2014/main" val="508427375"/>
                    </a:ext>
                  </a:extLst>
                </a:gridCol>
                <a:gridCol w="1105107">
                  <a:extLst>
                    <a:ext uri="{9D8B030D-6E8A-4147-A177-3AD203B41FA5}">
                      <a16:colId xmlns:a16="http://schemas.microsoft.com/office/drawing/2014/main" val="213524179"/>
                    </a:ext>
                  </a:extLst>
                </a:gridCol>
                <a:gridCol w="1105107">
                  <a:extLst>
                    <a:ext uri="{9D8B030D-6E8A-4147-A177-3AD203B41FA5}">
                      <a16:colId xmlns:a16="http://schemas.microsoft.com/office/drawing/2014/main" val="3023160714"/>
                    </a:ext>
                  </a:extLst>
                </a:gridCol>
              </a:tblGrid>
              <a:tr h="608349">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bg1"/>
                          </a:solidFill>
                          <a:effectLst/>
                        </a:rPr>
                        <a:t>Expected Answer</a:t>
                      </a: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bg1"/>
                          </a:solidFill>
                        </a:rPr>
                        <a:t>Result of the simulation</a:t>
                      </a:r>
                    </a:p>
                  </a:txBody>
                  <a:tcPr/>
                </a:tc>
                <a:extLst>
                  <a:ext uri="{0D108BD9-81ED-4DB2-BD59-A6C34878D82A}">
                    <a16:rowId xmlns:a16="http://schemas.microsoft.com/office/drawing/2014/main" val="3025210268"/>
                  </a:ext>
                </a:extLst>
              </a:tr>
              <a:tr h="429422">
                <a:tc>
                  <a:txBody>
                    <a:bodyPr/>
                    <a:lstStyle/>
                    <a:p>
                      <a:pPr algn="ctr">
                        <a:lnSpc>
                          <a:spcPct val="115000"/>
                        </a:lnSpc>
                        <a:spcAft>
                          <a:spcPts val="800"/>
                        </a:spcAft>
                        <a:buNone/>
                      </a:pPr>
                      <a:r>
                        <a:rPr lang="tr-TR" sz="1600" kern="0" dirty="0">
                          <a:solidFill>
                            <a:schemeClr val="tx1"/>
                          </a:solidFill>
                          <a:effectLst/>
                        </a:rPr>
                        <a:t>0001</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effectLst/>
                        </a:rPr>
                        <a:t>A - B</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01001101</a:t>
                      </a:r>
                      <a:endParaRPr lang="en-US"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600" b="1" dirty="0">
                          <a:solidFill>
                            <a:schemeClr val="tx1"/>
                          </a:solidFill>
                          <a:latin typeface="Calibri" panose="020F0502020204030204" pitchFamily="34" charset="0"/>
                          <a:cs typeface="Calibri" panose="020F0502020204030204" pitchFamily="34" charset="0"/>
                        </a:rPr>
                        <a:t>01001101</a:t>
                      </a:r>
                      <a:endParaRPr lang="en-US" sz="1600" b="1"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Picture 5">
            <a:extLst>
              <a:ext uri="{FF2B5EF4-FFF2-40B4-BE49-F238E27FC236}">
                <a16:creationId xmlns:a16="http://schemas.microsoft.com/office/drawing/2014/main" id="{D7E862CD-9788-CF36-169E-5871EFC4E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48647"/>
            <a:ext cx="8017933" cy="5069867"/>
          </a:xfrm>
          <a:prstGeom prst="rect">
            <a:avLst/>
          </a:prstGeom>
        </p:spPr>
      </p:pic>
      <p:sp>
        <p:nvSpPr>
          <p:cNvPr id="7" name="TextBox 6">
            <a:extLst>
              <a:ext uri="{FF2B5EF4-FFF2-40B4-BE49-F238E27FC236}">
                <a16:creationId xmlns:a16="http://schemas.microsoft.com/office/drawing/2014/main" id="{D0D1C409-1007-06F3-1D79-4DB99FF018B2}"/>
              </a:ext>
            </a:extLst>
          </p:cNvPr>
          <p:cNvSpPr txBox="1"/>
          <p:nvPr/>
        </p:nvSpPr>
        <p:spPr>
          <a:xfrm>
            <a:off x="9556448" y="2842381"/>
            <a:ext cx="1872343" cy="2308324"/>
          </a:xfrm>
          <a:prstGeom prst="rect">
            <a:avLst/>
          </a:prstGeom>
          <a:noFill/>
        </p:spPr>
        <p:txBody>
          <a:bodyPr wrap="square" rtlCol="0">
            <a:spAutoFit/>
          </a:bodyPr>
          <a:lstStyle/>
          <a:p>
            <a:r>
              <a:rPr lang="en-US" dirty="0"/>
              <a:t>The waveform shows stable and clean transitions, indicating correct subtractor functionality.</a:t>
            </a:r>
            <a:endParaRPr lang="en-US" dirty="0">
              <a:solidFill>
                <a:srgbClr val="FF0000"/>
              </a:solidFill>
            </a:endParaRPr>
          </a:p>
        </p:txBody>
      </p:sp>
    </p:spTree>
    <p:extLst>
      <p:ext uri="{BB962C8B-B14F-4D97-AF65-F5344CB8AC3E}">
        <p14:creationId xmlns:p14="http://schemas.microsoft.com/office/powerpoint/2010/main" val="3190270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3F43-92AB-12B9-18A2-C0D03776E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1476F-250A-F54D-A18D-4BF02C16414E}"/>
              </a:ext>
            </a:extLst>
          </p:cNvPr>
          <p:cNvSpPr>
            <a:spLocks noGrp="1"/>
          </p:cNvSpPr>
          <p:nvPr>
            <p:ph type="title"/>
          </p:nvPr>
        </p:nvSpPr>
        <p:spPr>
          <a:xfrm>
            <a:off x="838200" y="67808"/>
            <a:ext cx="10515600" cy="1325563"/>
          </a:xfrm>
        </p:spPr>
        <p:txBody>
          <a:bodyPr>
            <a:normAutofit/>
          </a:bodyPr>
          <a:lstStyle/>
          <a:p>
            <a:r>
              <a:rPr lang="en-US" dirty="0"/>
              <a:t>Demonstration of “Multiplication” </a:t>
            </a:r>
            <a:br>
              <a:rPr lang="en-US" dirty="0"/>
            </a:br>
            <a:r>
              <a:rPr lang="en-US" sz="3600" dirty="0">
                <a:solidFill>
                  <a:srgbClr val="FF0000"/>
                </a:solidFill>
              </a:rPr>
              <a:t>Last 2 digit of you Student ID in binary x 10101=?</a:t>
            </a:r>
          </a:p>
        </p:txBody>
      </p:sp>
      <p:sp>
        <p:nvSpPr>
          <p:cNvPr id="4" name="Rectangle 3">
            <a:extLst>
              <a:ext uri="{FF2B5EF4-FFF2-40B4-BE49-F238E27FC236}">
                <a16:creationId xmlns:a16="http://schemas.microsoft.com/office/drawing/2014/main" id="{31D11571-38FD-1DB3-771C-8A642A852282}"/>
              </a:ext>
            </a:extLst>
          </p:cNvPr>
          <p:cNvSpPr/>
          <p:nvPr/>
        </p:nvSpPr>
        <p:spPr>
          <a:xfrm>
            <a:off x="391886" y="1393371"/>
            <a:ext cx="116392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022E339-04CE-73DB-5D06-9AAF7BB1E644}"/>
              </a:ext>
            </a:extLst>
          </p:cNvPr>
          <p:cNvGraphicFramePr>
            <a:graphicFrameLocks noGrp="1"/>
          </p:cNvGraphicFramePr>
          <p:nvPr>
            <p:extLst>
              <p:ext uri="{D42A27DB-BD31-4B8C-83A1-F6EECF244321}">
                <p14:modId xmlns:p14="http://schemas.microsoft.com/office/powerpoint/2010/main" val="1915612084"/>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1000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x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BEFFE281-6497-9F71-E8F8-E7BDC194D777}"/>
              </a:ext>
            </a:extLst>
          </p:cNvPr>
          <p:cNvSpPr txBox="1"/>
          <p:nvPr/>
        </p:nvSpPr>
        <p:spPr>
          <a:xfrm>
            <a:off x="1234924" y="2901081"/>
            <a:ext cx="6579810" cy="1754326"/>
          </a:xfrm>
          <a:prstGeom prst="rect">
            <a:avLst/>
          </a:prstGeom>
          <a:noFill/>
        </p:spPr>
        <p:txBody>
          <a:bodyPr wrap="square" rtlCol="0">
            <a:spAutoFit/>
          </a:bodyPr>
          <a:lstStyle/>
          <a:p>
            <a:r>
              <a:rPr lang="en-US" dirty="0"/>
              <a:t>The multiplication operation was </a:t>
            </a:r>
            <a:r>
              <a:rPr lang="en-US" b="1" dirty="0"/>
              <a:t>intentionally excluded due to its higher implementation complexity</a:t>
            </a:r>
            <a:r>
              <a:rPr lang="en-US" dirty="0"/>
              <a:t>, which would require additional hardware resources and significantly increase the overall design effort. The remaining ALU functions were fully implemented and verified to ensure correct operation within the project scope.</a:t>
            </a:r>
            <a:endParaRPr lang="en-US" dirty="0">
              <a:solidFill>
                <a:srgbClr val="FF0000"/>
              </a:solidFill>
            </a:endParaRPr>
          </a:p>
        </p:txBody>
      </p:sp>
    </p:spTree>
    <p:extLst>
      <p:ext uri="{BB962C8B-B14F-4D97-AF65-F5344CB8AC3E}">
        <p14:creationId xmlns:p14="http://schemas.microsoft.com/office/powerpoint/2010/main" val="4191621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884F0-02E6-8590-3CA4-C9793470C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FA732-3A2B-CD9F-3CE2-108F28981B0D}"/>
              </a:ext>
            </a:extLst>
          </p:cNvPr>
          <p:cNvSpPr>
            <a:spLocks noGrp="1"/>
          </p:cNvSpPr>
          <p:nvPr>
            <p:ph type="title"/>
          </p:nvPr>
        </p:nvSpPr>
        <p:spPr>
          <a:xfrm>
            <a:off x="838200" y="67808"/>
            <a:ext cx="10515600" cy="1325563"/>
          </a:xfrm>
        </p:spPr>
        <p:txBody>
          <a:bodyPr>
            <a:normAutofit fontScale="90000"/>
          </a:bodyPr>
          <a:lstStyle/>
          <a:p>
            <a:r>
              <a:rPr lang="en-US" dirty="0"/>
              <a:t>Demonstration of “Equality Check” </a:t>
            </a:r>
            <a:br>
              <a:rPr lang="en-US" dirty="0"/>
            </a:br>
            <a:r>
              <a:rPr lang="en-US" sz="2700" dirty="0"/>
              <a:t>Last 2 digit of </a:t>
            </a:r>
            <a:r>
              <a:rPr lang="tr-TR" sz="2700" dirty="0" err="1"/>
              <a:t>my</a:t>
            </a:r>
            <a:r>
              <a:rPr lang="en-US" sz="2700" dirty="0"/>
              <a:t> Student ID in binary</a:t>
            </a:r>
            <a:r>
              <a:rPr lang="tr-TR" sz="2700" dirty="0"/>
              <a:t>=&gt; A = 01001110</a:t>
            </a:r>
            <a:r>
              <a:rPr lang="en-US" sz="2700" dirty="0"/>
              <a:t> </a:t>
            </a:r>
            <a:br>
              <a:rPr lang="tr-TR" sz="2700" dirty="0"/>
            </a:br>
            <a:r>
              <a:rPr lang="tr-TR" sz="2700" dirty="0"/>
              <a:t>B = </a:t>
            </a:r>
            <a:r>
              <a:rPr lang="en-US" sz="2700" dirty="0"/>
              <a:t>101</a:t>
            </a:r>
            <a:endParaRPr lang="en-US" sz="3600" dirty="0"/>
          </a:p>
        </p:txBody>
      </p:sp>
      <p:sp>
        <p:nvSpPr>
          <p:cNvPr id="4" name="Rectangle 3">
            <a:extLst>
              <a:ext uri="{FF2B5EF4-FFF2-40B4-BE49-F238E27FC236}">
                <a16:creationId xmlns:a16="http://schemas.microsoft.com/office/drawing/2014/main" id="{8A8CDCD2-EAF1-0716-C764-BCE1AD5A5D33}"/>
              </a:ext>
            </a:extLst>
          </p:cNvPr>
          <p:cNvSpPr/>
          <p:nvPr/>
        </p:nvSpPr>
        <p:spPr>
          <a:xfrm>
            <a:off x="437402" y="1393371"/>
            <a:ext cx="11322798"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C46E60E8-0B2B-8657-F57A-E7FB2BEBDECA}"/>
              </a:ext>
            </a:extLst>
          </p:cNvPr>
          <p:cNvGraphicFramePr>
            <a:graphicFrameLocks noGrp="1"/>
          </p:cNvGraphicFramePr>
          <p:nvPr>
            <p:extLst>
              <p:ext uri="{D42A27DB-BD31-4B8C-83A1-F6EECF244321}">
                <p14:modId xmlns:p14="http://schemas.microsoft.com/office/powerpoint/2010/main" val="684609938"/>
              </p:ext>
            </p:extLst>
          </p:nvPr>
        </p:nvGraphicFramePr>
        <p:xfrm>
          <a:off x="1584857" y="1393371"/>
          <a:ext cx="9022284" cy="944880"/>
        </p:xfrm>
        <a:graphic>
          <a:graphicData uri="http://schemas.openxmlformats.org/drawingml/2006/table">
            <a:tbl>
              <a:tblPr firstRow="1" bandRow="1">
                <a:tableStyleId>{5C22544A-7EE6-4342-B048-85BDC9FD1C3A}</a:tableStyleId>
              </a:tblPr>
              <a:tblGrid>
                <a:gridCol w="2255571">
                  <a:extLst>
                    <a:ext uri="{9D8B030D-6E8A-4147-A177-3AD203B41FA5}">
                      <a16:colId xmlns:a16="http://schemas.microsoft.com/office/drawing/2014/main" val="4247149876"/>
                    </a:ext>
                  </a:extLst>
                </a:gridCol>
                <a:gridCol w="2255571">
                  <a:extLst>
                    <a:ext uri="{9D8B030D-6E8A-4147-A177-3AD203B41FA5}">
                      <a16:colId xmlns:a16="http://schemas.microsoft.com/office/drawing/2014/main" val="508427375"/>
                    </a:ext>
                  </a:extLst>
                </a:gridCol>
                <a:gridCol w="2255571">
                  <a:extLst>
                    <a:ext uri="{9D8B030D-6E8A-4147-A177-3AD203B41FA5}">
                      <a16:colId xmlns:a16="http://schemas.microsoft.com/office/drawing/2014/main" val="213524179"/>
                    </a:ext>
                  </a:extLst>
                </a:gridCol>
                <a:gridCol w="2255571">
                  <a:extLst>
                    <a:ext uri="{9D8B030D-6E8A-4147-A177-3AD203B41FA5}">
                      <a16:colId xmlns:a16="http://schemas.microsoft.com/office/drawing/2014/main" val="3023160714"/>
                    </a:ext>
                  </a:extLst>
                </a:gridCol>
              </a:tblGrid>
              <a:tr h="457301">
                <a:tc>
                  <a:txBody>
                    <a:bodyPr/>
                    <a:lstStyle/>
                    <a:p>
                      <a:pPr algn="ctr">
                        <a:lnSpc>
                          <a:spcPct val="115000"/>
                        </a:lnSpc>
                        <a:spcAft>
                          <a:spcPts val="800"/>
                        </a:spcAft>
                        <a:buNone/>
                      </a:pPr>
                      <a:r>
                        <a:rPr lang="en-US" sz="1600" kern="0" dirty="0">
                          <a:effectLst/>
                        </a:rPr>
                        <a:t>Opcode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effectLst/>
                        </a:rPr>
                        <a:t>Operation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bg1"/>
                          </a:solidFill>
                          <a:effectLst/>
                        </a:rPr>
                        <a:t>Expected Answer</a:t>
                      </a:r>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600" dirty="0">
                          <a:solidFill>
                            <a:schemeClr val="bg1"/>
                          </a:solidFill>
                        </a:rPr>
                        <a:t>Result of the simulation</a:t>
                      </a:r>
                    </a:p>
                  </a:txBody>
                  <a:tcPr/>
                </a:tc>
                <a:extLst>
                  <a:ext uri="{0D108BD9-81ED-4DB2-BD59-A6C34878D82A}">
                    <a16:rowId xmlns:a16="http://schemas.microsoft.com/office/drawing/2014/main" val="3025210268"/>
                  </a:ext>
                </a:extLst>
              </a:tr>
              <a:tr h="298652">
                <a:tc>
                  <a:txBody>
                    <a:bodyPr/>
                    <a:lstStyle/>
                    <a:p>
                      <a:pPr algn="ctr">
                        <a:lnSpc>
                          <a:spcPct val="115000"/>
                        </a:lnSpc>
                        <a:spcAft>
                          <a:spcPts val="800"/>
                        </a:spcAft>
                        <a:buNone/>
                      </a:pPr>
                      <a:r>
                        <a:rPr lang="en-US" sz="1800" b="1" kern="1200" dirty="0">
                          <a:solidFill>
                            <a:schemeClr val="tx1"/>
                          </a:solidFill>
                          <a:effectLst/>
                          <a:latin typeface="+mn-lt"/>
                          <a:ea typeface="+mn-ea"/>
                          <a:cs typeface="+mn-cs"/>
                        </a:rPr>
                        <a:t>1001</a:t>
                      </a:r>
                      <a:endParaRPr lang="en-US"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b="1" kern="0" dirty="0">
                          <a:effectLst/>
                        </a:rPr>
                        <a:t>A == 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Picture 7">
            <a:extLst>
              <a:ext uri="{FF2B5EF4-FFF2-40B4-BE49-F238E27FC236}">
                <a16:creationId xmlns:a16="http://schemas.microsoft.com/office/drawing/2014/main" id="{4FDD1C58-8B00-9649-B102-4C93C6D91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205" y="2718934"/>
            <a:ext cx="10363589" cy="3457320"/>
          </a:xfrm>
          <a:prstGeom prst="rect">
            <a:avLst/>
          </a:prstGeom>
        </p:spPr>
      </p:pic>
    </p:spTree>
    <p:extLst>
      <p:ext uri="{BB962C8B-B14F-4D97-AF65-F5344CB8AC3E}">
        <p14:creationId xmlns:p14="http://schemas.microsoft.com/office/powerpoint/2010/main" val="2332011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41F81-0FF1-5569-BBEF-FCFE2B3A5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F6B6B-E72C-877E-3C26-26364FCDE4D7}"/>
              </a:ext>
            </a:extLst>
          </p:cNvPr>
          <p:cNvSpPr>
            <a:spLocks noGrp="1"/>
          </p:cNvSpPr>
          <p:nvPr>
            <p:ph type="title"/>
          </p:nvPr>
        </p:nvSpPr>
        <p:spPr>
          <a:xfrm>
            <a:off x="838200" y="67808"/>
            <a:ext cx="10515600" cy="1325563"/>
          </a:xfrm>
        </p:spPr>
        <p:txBody>
          <a:bodyPr>
            <a:normAutofit fontScale="90000"/>
          </a:bodyPr>
          <a:lstStyle/>
          <a:p>
            <a:r>
              <a:rPr lang="en-US" dirty="0"/>
              <a:t>Demonstration of “Equality Check” </a:t>
            </a:r>
            <a:br>
              <a:rPr lang="en-US" dirty="0"/>
            </a:br>
            <a:r>
              <a:rPr lang="en-US" sz="2700" dirty="0"/>
              <a:t>Last 2 digit of </a:t>
            </a:r>
            <a:r>
              <a:rPr lang="tr-TR" sz="2700" dirty="0" err="1"/>
              <a:t>my</a:t>
            </a:r>
            <a:r>
              <a:rPr lang="en-US" sz="2700" dirty="0"/>
              <a:t> Student ID in binary</a:t>
            </a:r>
            <a:r>
              <a:rPr lang="tr-TR" sz="2700" dirty="0"/>
              <a:t>=&gt; A = 01001110</a:t>
            </a:r>
            <a:r>
              <a:rPr lang="en-US" sz="2700" dirty="0"/>
              <a:t> </a:t>
            </a:r>
            <a:br>
              <a:rPr lang="tr-TR" sz="2700" dirty="0"/>
            </a:br>
            <a:r>
              <a:rPr lang="tr-TR" sz="2700" dirty="0"/>
              <a:t>B = </a:t>
            </a:r>
            <a:r>
              <a:rPr lang="en-US" sz="2700" dirty="0"/>
              <a:t>101</a:t>
            </a:r>
            <a:endParaRPr lang="en-US" sz="3600" dirty="0"/>
          </a:p>
        </p:txBody>
      </p:sp>
      <p:sp>
        <p:nvSpPr>
          <p:cNvPr id="4" name="Rectangle 3">
            <a:extLst>
              <a:ext uri="{FF2B5EF4-FFF2-40B4-BE49-F238E27FC236}">
                <a16:creationId xmlns:a16="http://schemas.microsoft.com/office/drawing/2014/main" id="{8F713A14-EC7D-DB11-0369-42391A672ABB}"/>
              </a:ext>
            </a:extLst>
          </p:cNvPr>
          <p:cNvSpPr/>
          <p:nvPr/>
        </p:nvSpPr>
        <p:spPr>
          <a:xfrm>
            <a:off x="437402" y="1393371"/>
            <a:ext cx="11322798"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099E46B9-CD43-86F3-D756-E510647569C5}"/>
              </a:ext>
            </a:extLst>
          </p:cNvPr>
          <p:cNvSpPr txBox="1">
            <a:spLocks/>
          </p:cNvSpPr>
          <p:nvPr/>
        </p:nvSpPr>
        <p:spPr>
          <a:xfrm>
            <a:off x="8597544" y="482675"/>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pic>
        <p:nvPicPr>
          <p:cNvPr id="7" name="Picture 6">
            <a:extLst>
              <a:ext uri="{FF2B5EF4-FFF2-40B4-BE49-F238E27FC236}">
                <a16:creationId xmlns:a16="http://schemas.microsoft.com/office/drawing/2014/main" id="{A855180E-A750-441D-09FE-84AE71954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509" y="1384753"/>
            <a:ext cx="8006982" cy="5309961"/>
          </a:xfrm>
          <a:prstGeom prst="rect">
            <a:avLst/>
          </a:prstGeom>
        </p:spPr>
      </p:pic>
    </p:spTree>
    <p:extLst>
      <p:ext uri="{BB962C8B-B14F-4D97-AF65-F5344CB8AC3E}">
        <p14:creationId xmlns:p14="http://schemas.microsoft.com/office/powerpoint/2010/main" val="3623202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2256-BE39-1725-293C-1D745EF02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79FC-9928-1303-E3BA-35F26EEF764E}"/>
              </a:ext>
            </a:extLst>
          </p:cNvPr>
          <p:cNvSpPr>
            <a:spLocks noGrp="1"/>
          </p:cNvSpPr>
          <p:nvPr>
            <p:ph type="title"/>
          </p:nvPr>
        </p:nvSpPr>
        <p:spPr>
          <a:xfrm>
            <a:off x="838200" y="67808"/>
            <a:ext cx="10515600" cy="1325563"/>
          </a:xfrm>
        </p:spPr>
        <p:txBody>
          <a:bodyPr>
            <a:normAutofit fontScale="90000"/>
          </a:bodyPr>
          <a:lstStyle/>
          <a:p>
            <a:r>
              <a:rPr lang="en-US" dirty="0"/>
              <a:t>Demonstration of “Equality Check” </a:t>
            </a:r>
            <a:br>
              <a:rPr lang="en-US" dirty="0"/>
            </a:br>
            <a:r>
              <a:rPr lang="en-US" sz="2700" dirty="0"/>
              <a:t>Last 2 digit of </a:t>
            </a:r>
            <a:r>
              <a:rPr lang="tr-TR" sz="2700" dirty="0" err="1"/>
              <a:t>my</a:t>
            </a:r>
            <a:r>
              <a:rPr lang="en-US" sz="2700" dirty="0"/>
              <a:t> Student ID in binary</a:t>
            </a:r>
            <a:r>
              <a:rPr lang="tr-TR" sz="2700" dirty="0"/>
              <a:t>=&gt; A = 01001110</a:t>
            </a:r>
            <a:r>
              <a:rPr lang="en-US" sz="2700" dirty="0"/>
              <a:t> </a:t>
            </a:r>
            <a:br>
              <a:rPr lang="tr-TR" sz="2700" dirty="0"/>
            </a:br>
            <a:r>
              <a:rPr lang="tr-TR" sz="2700" dirty="0"/>
              <a:t>B = </a:t>
            </a:r>
            <a:r>
              <a:rPr lang="en-US" sz="2700" dirty="0"/>
              <a:t>101</a:t>
            </a:r>
            <a:endParaRPr lang="en-US" sz="3600" dirty="0"/>
          </a:p>
        </p:txBody>
      </p:sp>
      <p:sp>
        <p:nvSpPr>
          <p:cNvPr id="4" name="Rectangle 3">
            <a:extLst>
              <a:ext uri="{FF2B5EF4-FFF2-40B4-BE49-F238E27FC236}">
                <a16:creationId xmlns:a16="http://schemas.microsoft.com/office/drawing/2014/main" id="{E9194C17-9AE2-995F-0251-97F39CA00F0A}"/>
              </a:ext>
            </a:extLst>
          </p:cNvPr>
          <p:cNvSpPr/>
          <p:nvPr/>
        </p:nvSpPr>
        <p:spPr>
          <a:xfrm>
            <a:off x="437402" y="1393371"/>
            <a:ext cx="11322798"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844B53A4-6FB3-AA27-E0BE-0E168E439B05}"/>
              </a:ext>
            </a:extLst>
          </p:cNvPr>
          <p:cNvSpPr txBox="1">
            <a:spLocks/>
          </p:cNvSpPr>
          <p:nvPr/>
        </p:nvSpPr>
        <p:spPr>
          <a:xfrm>
            <a:off x="8597544" y="482675"/>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7" name="Picture 6">
            <a:extLst>
              <a:ext uri="{FF2B5EF4-FFF2-40B4-BE49-F238E27FC236}">
                <a16:creationId xmlns:a16="http://schemas.microsoft.com/office/drawing/2014/main" id="{FF244A71-0991-E8DE-7088-7CD79BCD3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0441" y="1393371"/>
            <a:ext cx="7931117" cy="5285270"/>
          </a:xfrm>
          <a:prstGeom prst="rect">
            <a:avLst/>
          </a:prstGeom>
        </p:spPr>
      </p:pic>
    </p:spTree>
    <p:extLst>
      <p:ext uri="{BB962C8B-B14F-4D97-AF65-F5344CB8AC3E}">
        <p14:creationId xmlns:p14="http://schemas.microsoft.com/office/powerpoint/2010/main" val="1701616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6CF5A-5D64-89BA-718E-ECD30BADF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94FD7-255E-B6C6-4DF2-808C37570A00}"/>
              </a:ext>
            </a:extLst>
          </p:cNvPr>
          <p:cNvSpPr>
            <a:spLocks noGrp="1"/>
          </p:cNvSpPr>
          <p:nvPr>
            <p:ph type="title"/>
          </p:nvPr>
        </p:nvSpPr>
        <p:spPr>
          <a:xfrm>
            <a:off x="431799" y="163286"/>
            <a:ext cx="10515600" cy="1325563"/>
          </a:xfrm>
        </p:spPr>
        <p:txBody>
          <a:bodyPr>
            <a:normAutofit fontScale="90000"/>
          </a:bodyPr>
          <a:lstStyle/>
          <a:p>
            <a:r>
              <a:rPr lang="en-US" dirty="0"/>
              <a:t>Demonstration of “Equality Check” </a:t>
            </a:r>
            <a:br>
              <a:rPr lang="en-US" dirty="0"/>
            </a:br>
            <a:r>
              <a:rPr lang="en-US" sz="2700" dirty="0"/>
              <a:t>Last 2 digit of </a:t>
            </a:r>
            <a:r>
              <a:rPr lang="tr-TR" sz="2700" dirty="0" err="1"/>
              <a:t>my</a:t>
            </a:r>
            <a:r>
              <a:rPr lang="en-US" sz="2700" dirty="0"/>
              <a:t> Student ID in binary</a:t>
            </a:r>
            <a:r>
              <a:rPr lang="tr-TR" sz="2700" dirty="0"/>
              <a:t>=&gt; A = 01001110</a:t>
            </a:r>
            <a:r>
              <a:rPr lang="en-US" sz="2700" dirty="0"/>
              <a:t> </a:t>
            </a:r>
            <a:br>
              <a:rPr lang="tr-TR" sz="2700" dirty="0"/>
            </a:br>
            <a:r>
              <a:rPr lang="tr-TR" sz="2700" dirty="0"/>
              <a:t>B = </a:t>
            </a:r>
            <a:r>
              <a:rPr lang="en-US" sz="2700" dirty="0"/>
              <a:t>101</a:t>
            </a:r>
            <a:endParaRPr lang="en-US" sz="3600" dirty="0"/>
          </a:p>
        </p:txBody>
      </p:sp>
      <p:sp>
        <p:nvSpPr>
          <p:cNvPr id="4" name="Rectangle 3">
            <a:extLst>
              <a:ext uri="{FF2B5EF4-FFF2-40B4-BE49-F238E27FC236}">
                <a16:creationId xmlns:a16="http://schemas.microsoft.com/office/drawing/2014/main" id="{6360FCC6-BCBA-62EA-AE96-166B011C94A1}"/>
              </a:ext>
            </a:extLst>
          </p:cNvPr>
          <p:cNvSpPr/>
          <p:nvPr/>
        </p:nvSpPr>
        <p:spPr>
          <a:xfrm>
            <a:off x="437402" y="1393371"/>
            <a:ext cx="11322798"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252BA5B9-0C16-5D9D-939A-8F364AA9B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799" y="1393370"/>
            <a:ext cx="7961677" cy="5301343"/>
          </a:xfrm>
          <a:prstGeom prst="rect">
            <a:avLst/>
          </a:prstGeom>
        </p:spPr>
      </p:pic>
      <p:graphicFrame>
        <p:nvGraphicFramePr>
          <p:cNvPr id="3" name="Table 2">
            <a:extLst>
              <a:ext uri="{FF2B5EF4-FFF2-40B4-BE49-F238E27FC236}">
                <a16:creationId xmlns:a16="http://schemas.microsoft.com/office/drawing/2014/main" id="{B45CAFF4-7B09-DAC2-D044-FBEA2252DD17}"/>
              </a:ext>
            </a:extLst>
          </p:cNvPr>
          <p:cNvGraphicFramePr>
            <a:graphicFrameLocks noGrp="1"/>
          </p:cNvGraphicFramePr>
          <p:nvPr>
            <p:extLst>
              <p:ext uri="{D42A27DB-BD31-4B8C-83A1-F6EECF244321}">
                <p14:modId xmlns:p14="http://schemas.microsoft.com/office/powerpoint/2010/main" val="685021821"/>
              </p:ext>
            </p:extLst>
          </p:nvPr>
        </p:nvGraphicFramePr>
        <p:xfrm>
          <a:off x="7658319" y="244928"/>
          <a:ext cx="4440548" cy="1066800"/>
        </p:xfrm>
        <a:graphic>
          <a:graphicData uri="http://schemas.openxmlformats.org/drawingml/2006/table">
            <a:tbl>
              <a:tblPr firstRow="1" bandRow="1">
                <a:tableStyleId>{5C22544A-7EE6-4342-B048-85BDC9FD1C3A}</a:tableStyleId>
              </a:tblPr>
              <a:tblGrid>
                <a:gridCol w="1110137">
                  <a:extLst>
                    <a:ext uri="{9D8B030D-6E8A-4147-A177-3AD203B41FA5}">
                      <a16:colId xmlns:a16="http://schemas.microsoft.com/office/drawing/2014/main" val="4247149876"/>
                    </a:ext>
                  </a:extLst>
                </a:gridCol>
                <a:gridCol w="1110137">
                  <a:extLst>
                    <a:ext uri="{9D8B030D-6E8A-4147-A177-3AD203B41FA5}">
                      <a16:colId xmlns:a16="http://schemas.microsoft.com/office/drawing/2014/main" val="508427375"/>
                    </a:ext>
                  </a:extLst>
                </a:gridCol>
                <a:gridCol w="1110137">
                  <a:extLst>
                    <a:ext uri="{9D8B030D-6E8A-4147-A177-3AD203B41FA5}">
                      <a16:colId xmlns:a16="http://schemas.microsoft.com/office/drawing/2014/main" val="213524179"/>
                    </a:ext>
                  </a:extLst>
                </a:gridCol>
                <a:gridCol w="1110137">
                  <a:extLst>
                    <a:ext uri="{9D8B030D-6E8A-4147-A177-3AD203B41FA5}">
                      <a16:colId xmlns:a16="http://schemas.microsoft.com/office/drawing/2014/main" val="3023160714"/>
                    </a:ext>
                  </a:extLst>
                </a:gridCol>
              </a:tblGrid>
              <a:tr h="372023">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bg1"/>
                          </a:solidFill>
                          <a:effectLst/>
                        </a:rPr>
                        <a:t>Expected Answer</a:t>
                      </a:r>
                      <a:endParaRPr lang="en-US"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bg1"/>
                          </a:solidFill>
                        </a:rPr>
                        <a:t>Result of the simulation</a:t>
                      </a:r>
                    </a:p>
                  </a:txBody>
                  <a:tcPr/>
                </a:tc>
                <a:extLst>
                  <a:ext uri="{0D108BD9-81ED-4DB2-BD59-A6C34878D82A}">
                    <a16:rowId xmlns:a16="http://schemas.microsoft.com/office/drawing/2014/main" val="3025210268"/>
                  </a:ext>
                </a:extLst>
              </a:tr>
              <a:tr h="240721">
                <a:tc>
                  <a:txBody>
                    <a:bodyPr/>
                    <a:lstStyle/>
                    <a:p>
                      <a:pPr algn="ctr">
                        <a:lnSpc>
                          <a:spcPct val="115000"/>
                        </a:lnSpc>
                        <a:spcAft>
                          <a:spcPts val="800"/>
                        </a:spcAft>
                        <a:buNone/>
                      </a:pPr>
                      <a:r>
                        <a:rPr lang="en-US" sz="1600" b="1" kern="1200" dirty="0">
                          <a:solidFill>
                            <a:schemeClr val="tx1"/>
                          </a:solidFill>
                          <a:effectLst/>
                          <a:latin typeface="+mn-lt"/>
                          <a:ea typeface="+mn-ea"/>
                          <a:cs typeface="+mn-cs"/>
                        </a:rPr>
                        <a:t>1001</a:t>
                      </a:r>
                      <a:endParaRPr lang="en-US" sz="2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b="1" kern="0" dirty="0">
                          <a:effectLst/>
                        </a:rPr>
                        <a:t>A == B</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7" name="TextBox 6">
            <a:extLst>
              <a:ext uri="{FF2B5EF4-FFF2-40B4-BE49-F238E27FC236}">
                <a16:creationId xmlns:a16="http://schemas.microsoft.com/office/drawing/2014/main" id="{459DFBC5-94B5-C748-12D4-4542F88A45F5}"/>
              </a:ext>
            </a:extLst>
          </p:cNvPr>
          <p:cNvSpPr txBox="1"/>
          <p:nvPr/>
        </p:nvSpPr>
        <p:spPr>
          <a:xfrm>
            <a:off x="8632061" y="2198955"/>
            <a:ext cx="2889553" cy="3785652"/>
          </a:xfrm>
          <a:prstGeom prst="rect">
            <a:avLst/>
          </a:prstGeom>
          <a:noFill/>
        </p:spPr>
        <p:txBody>
          <a:bodyPr wrap="square" rtlCol="0">
            <a:spAutoFit/>
          </a:bodyPr>
          <a:lstStyle/>
          <a:p>
            <a:r>
              <a:rPr lang="en-US" sz="1600" dirty="0"/>
              <a:t>The equality check is implemented by evaluating the result of the subtraction operation. When the subtraction output equals zero, the Zero Flag is asserted, indicating that the two input operands are equal. In this design, only the </a:t>
            </a:r>
            <a:r>
              <a:rPr lang="en-US" sz="1600" b="1" dirty="0"/>
              <a:t>LSB (Result[0])</a:t>
            </a:r>
            <a:r>
              <a:rPr lang="en-US" sz="1600" dirty="0"/>
              <a:t> of the </a:t>
            </a:r>
            <a:r>
              <a:rPr lang="tr-TR" sz="1600" dirty="0" err="1"/>
              <a:t>equality</a:t>
            </a:r>
            <a:r>
              <a:rPr lang="en-US" sz="1600" dirty="0"/>
              <a:t> output is used for the</a:t>
            </a:r>
            <a:r>
              <a:rPr lang="tr-TR" sz="1600" dirty="0"/>
              <a:t> </a:t>
            </a:r>
            <a:r>
              <a:rPr lang="en-US" sz="1600" dirty="0"/>
              <a:t>decision, while the remaining result bits (</a:t>
            </a:r>
            <a:r>
              <a:rPr lang="en-US" sz="1600" b="1" dirty="0"/>
              <a:t>Result[1]–Result[7]</a:t>
            </a:r>
            <a:r>
              <a:rPr lang="en-US" sz="1600" dirty="0"/>
              <a:t>) are tied to ground for this operation. </a:t>
            </a:r>
          </a:p>
        </p:txBody>
      </p:sp>
    </p:spTree>
    <p:extLst>
      <p:ext uri="{BB962C8B-B14F-4D97-AF65-F5344CB8AC3E}">
        <p14:creationId xmlns:p14="http://schemas.microsoft.com/office/powerpoint/2010/main" val="220643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C469-DC7B-E2E1-2150-619A1B3C7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A32BB-2DEE-C5FD-8535-C92E2D8584E9}"/>
              </a:ext>
            </a:extLst>
          </p:cNvPr>
          <p:cNvSpPr>
            <a:spLocks noGrp="1"/>
          </p:cNvSpPr>
          <p:nvPr>
            <p:ph type="title"/>
          </p:nvPr>
        </p:nvSpPr>
        <p:spPr>
          <a:xfrm>
            <a:off x="391886" y="68412"/>
            <a:ext cx="10515600" cy="1325563"/>
          </a:xfrm>
        </p:spPr>
        <p:txBody>
          <a:bodyPr>
            <a:noAutofit/>
          </a:bodyPr>
          <a:lstStyle/>
          <a:p>
            <a:r>
              <a:rPr lang="en-US" sz="3600" dirty="0"/>
              <a:t>Demonstration of “Greater Than” </a:t>
            </a:r>
            <a:br>
              <a:rPr lang="en-US" sz="3600" dirty="0"/>
            </a:br>
            <a:r>
              <a:rPr lang="en-US" sz="2800" dirty="0"/>
              <a:t>Last 2 digit of </a:t>
            </a:r>
            <a:r>
              <a:rPr lang="tr-TR" sz="2800" dirty="0" err="1"/>
              <a:t>my</a:t>
            </a:r>
            <a:r>
              <a:rPr lang="en-US" sz="2800" dirty="0"/>
              <a:t> Student ID in binary</a:t>
            </a:r>
            <a:r>
              <a:rPr lang="tr-TR" sz="2800" dirty="0"/>
              <a:t>=&gt;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CC28B4AE-29AE-7F40-F414-2798C9AC8338}"/>
              </a:ext>
            </a:extLst>
          </p:cNvPr>
          <p:cNvSpPr/>
          <p:nvPr/>
        </p:nvSpPr>
        <p:spPr>
          <a:xfrm>
            <a:off x="391886" y="1393371"/>
            <a:ext cx="114783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D4C4160-FF7C-E1D1-4DC2-C7F5B3A418B5}"/>
              </a:ext>
            </a:extLst>
          </p:cNvPr>
          <p:cNvGraphicFramePr>
            <a:graphicFrameLocks noGrp="1"/>
          </p:cNvGraphicFramePr>
          <p:nvPr>
            <p:extLst>
              <p:ext uri="{D42A27DB-BD31-4B8C-83A1-F6EECF244321}">
                <p14:modId xmlns:p14="http://schemas.microsoft.com/office/powerpoint/2010/main" val="2217171196"/>
              </p:ext>
            </p:extLst>
          </p:nvPr>
        </p:nvGraphicFramePr>
        <p:xfrm>
          <a:off x="1761448" y="1393371"/>
          <a:ext cx="8739256" cy="949960"/>
        </p:xfrm>
        <a:graphic>
          <a:graphicData uri="http://schemas.openxmlformats.org/drawingml/2006/table">
            <a:tbl>
              <a:tblPr firstRow="1" bandRow="1">
                <a:tableStyleId>{5C22544A-7EE6-4342-B048-85BDC9FD1C3A}</a:tableStyleId>
              </a:tblPr>
              <a:tblGrid>
                <a:gridCol w="2184814">
                  <a:extLst>
                    <a:ext uri="{9D8B030D-6E8A-4147-A177-3AD203B41FA5}">
                      <a16:colId xmlns:a16="http://schemas.microsoft.com/office/drawing/2014/main" val="4247149876"/>
                    </a:ext>
                  </a:extLst>
                </a:gridCol>
                <a:gridCol w="2184814">
                  <a:extLst>
                    <a:ext uri="{9D8B030D-6E8A-4147-A177-3AD203B41FA5}">
                      <a16:colId xmlns:a16="http://schemas.microsoft.com/office/drawing/2014/main" val="508427375"/>
                    </a:ext>
                  </a:extLst>
                </a:gridCol>
                <a:gridCol w="2184814">
                  <a:extLst>
                    <a:ext uri="{9D8B030D-6E8A-4147-A177-3AD203B41FA5}">
                      <a16:colId xmlns:a16="http://schemas.microsoft.com/office/drawing/2014/main" val="213524179"/>
                    </a:ext>
                  </a:extLst>
                </a:gridCol>
                <a:gridCol w="2184814">
                  <a:extLst>
                    <a:ext uri="{9D8B030D-6E8A-4147-A177-3AD203B41FA5}">
                      <a16:colId xmlns:a16="http://schemas.microsoft.com/office/drawing/2014/main" val="3023160714"/>
                    </a:ext>
                  </a:extLst>
                </a:gridCol>
              </a:tblGrid>
              <a:tr h="370840">
                <a:tc>
                  <a:txBody>
                    <a:bodyPr/>
                    <a:lstStyle/>
                    <a:p>
                      <a:pPr algn="ctr">
                        <a:lnSpc>
                          <a:spcPct val="115000"/>
                        </a:lnSpc>
                        <a:spcAft>
                          <a:spcPts val="800"/>
                        </a:spcAft>
                        <a:buNone/>
                      </a:pPr>
                      <a:r>
                        <a:rPr lang="en-US" sz="1600" kern="0" dirty="0">
                          <a:effectLst/>
                        </a:rPr>
                        <a:t>Opcode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effectLst/>
                        </a:rPr>
                        <a:t>Operation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bg1"/>
                          </a:solidFill>
                          <a:effectLst/>
                        </a:rPr>
                        <a:t>Expected Answer</a:t>
                      </a:r>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600" dirty="0">
                          <a:solidFill>
                            <a:schemeClr val="bg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en-US" sz="1600" kern="1200" dirty="0">
                          <a:solidFill>
                            <a:schemeClr val="tx1"/>
                          </a:solidFill>
                          <a:effectLst/>
                          <a:latin typeface="+mn-lt"/>
                          <a:ea typeface="+mn-ea"/>
                          <a:cs typeface="+mn-cs"/>
                        </a:rPr>
                        <a:t>1010</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effectLst/>
                        </a:rPr>
                        <a:t>A &gt; B</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00000001</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00000001</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Picture 7" descr="A screenshot of a computer&#10;&#10;AI-generated content may be incorrect.">
            <a:extLst>
              <a:ext uri="{FF2B5EF4-FFF2-40B4-BE49-F238E27FC236}">
                <a16:creationId xmlns:a16="http://schemas.microsoft.com/office/drawing/2014/main" id="{9887DB57-AFC0-59B6-A33D-50258D16C851}"/>
              </a:ext>
            </a:extLst>
          </p:cNvPr>
          <p:cNvPicPr>
            <a:picLocks noChangeAspect="1"/>
          </p:cNvPicPr>
          <p:nvPr/>
        </p:nvPicPr>
        <p:blipFill>
          <a:blip r:embed="rId2"/>
          <a:stretch>
            <a:fillRect/>
          </a:stretch>
        </p:blipFill>
        <p:spPr>
          <a:xfrm>
            <a:off x="821108" y="2601635"/>
            <a:ext cx="10549784" cy="3570565"/>
          </a:xfrm>
          <a:prstGeom prst="rect">
            <a:avLst/>
          </a:prstGeom>
        </p:spPr>
      </p:pic>
    </p:spTree>
    <p:extLst>
      <p:ext uri="{BB962C8B-B14F-4D97-AF65-F5344CB8AC3E}">
        <p14:creationId xmlns:p14="http://schemas.microsoft.com/office/powerpoint/2010/main" val="2755174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C4A4C-6CE9-8F13-1E90-0827FA842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5FC2C-BCC5-CD8F-5892-AE988E1D6221}"/>
              </a:ext>
            </a:extLst>
          </p:cNvPr>
          <p:cNvSpPr>
            <a:spLocks noGrp="1"/>
          </p:cNvSpPr>
          <p:nvPr>
            <p:ph type="title"/>
          </p:nvPr>
        </p:nvSpPr>
        <p:spPr>
          <a:xfrm>
            <a:off x="391886" y="68412"/>
            <a:ext cx="10515600" cy="1325563"/>
          </a:xfrm>
        </p:spPr>
        <p:txBody>
          <a:bodyPr>
            <a:noAutofit/>
          </a:bodyPr>
          <a:lstStyle/>
          <a:p>
            <a:r>
              <a:rPr lang="en-US" sz="3600" dirty="0"/>
              <a:t>Demonstration of “Greater Than” </a:t>
            </a:r>
            <a:br>
              <a:rPr lang="en-US" sz="3600" dirty="0"/>
            </a:br>
            <a:r>
              <a:rPr lang="en-US" sz="2800" dirty="0"/>
              <a:t>Last 2 digit of </a:t>
            </a:r>
            <a:r>
              <a:rPr lang="tr-TR" sz="2800" dirty="0" err="1"/>
              <a:t>my</a:t>
            </a:r>
            <a:r>
              <a:rPr lang="en-US" sz="2800" dirty="0"/>
              <a:t> Student ID in binary</a:t>
            </a:r>
            <a:r>
              <a:rPr lang="tr-TR" sz="2800" dirty="0"/>
              <a:t>=&gt;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697CC594-AF22-B711-F715-571B65C21B47}"/>
              </a:ext>
            </a:extLst>
          </p:cNvPr>
          <p:cNvSpPr/>
          <p:nvPr/>
        </p:nvSpPr>
        <p:spPr>
          <a:xfrm>
            <a:off x="391886" y="1393371"/>
            <a:ext cx="114783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E36B36FA-4179-22ED-FB70-D50331A66DE1}"/>
              </a:ext>
            </a:extLst>
          </p:cNvPr>
          <p:cNvSpPr txBox="1">
            <a:spLocks/>
          </p:cNvSpPr>
          <p:nvPr/>
        </p:nvSpPr>
        <p:spPr>
          <a:xfrm>
            <a:off x="9207144" y="465741"/>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pic>
        <p:nvPicPr>
          <p:cNvPr id="7" name="Picture 6">
            <a:extLst>
              <a:ext uri="{FF2B5EF4-FFF2-40B4-BE49-F238E27FC236}">
                <a16:creationId xmlns:a16="http://schemas.microsoft.com/office/drawing/2014/main" id="{C690368D-048A-97C8-D034-AF974739E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3997" y="1454247"/>
            <a:ext cx="7764006" cy="5180195"/>
          </a:xfrm>
          <a:prstGeom prst="rect">
            <a:avLst/>
          </a:prstGeom>
        </p:spPr>
      </p:pic>
    </p:spTree>
    <p:extLst>
      <p:ext uri="{BB962C8B-B14F-4D97-AF65-F5344CB8AC3E}">
        <p14:creationId xmlns:p14="http://schemas.microsoft.com/office/powerpoint/2010/main" val="1869611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8582E-3E1C-3E20-F693-26DE4699E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12645-76C5-5025-290B-3559C2598E7F}"/>
              </a:ext>
            </a:extLst>
          </p:cNvPr>
          <p:cNvSpPr>
            <a:spLocks noGrp="1"/>
          </p:cNvSpPr>
          <p:nvPr>
            <p:ph type="title"/>
          </p:nvPr>
        </p:nvSpPr>
        <p:spPr>
          <a:xfrm>
            <a:off x="391886" y="68412"/>
            <a:ext cx="10515600" cy="1325563"/>
          </a:xfrm>
        </p:spPr>
        <p:txBody>
          <a:bodyPr>
            <a:noAutofit/>
          </a:bodyPr>
          <a:lstStyle/>
          <a:p>
            <a:r>
              <a:rPr lang="en-US" sz="3600" dirty="0"/>
              <a:t>Demonstration of “Greater Than” </a:t>
            </a:r>
            <a:br>
              <a:rPr lang="en-US" sz="3600" dirty="0"/>
            </a:br>
            <a:r>
              <a:rPr lang="en-US" sz="2800" dirty="0"/>
              <a:t>Last 2 digit of </a:t>
            </a:r>
            <a:r>
              <a:rPr lang="tr-TR" sz="2800" dirty="0" err="1"/>
              <a:t>my</a:t>
            </a:r>
            <a:r>
              <a:rPr lang="en-US" sz="2800" dirty="0"/>
              <a:t> Student ID in binary</a:t>
            </a:r>
            <a:r>
              <a:rPr lang="tr-TR" sz="2800" dirty="0"/>
              <a:t>=&gt;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EB5268E4-6C4D-1DB5-2B9D-98AD16B8DEC2}"/>
              </a:ext>
            </a:extLst>
          </p:cNvPr>
          <p:cNvSpPr/>
          <p:nvPr/>
        </p:nvSpPr>
        <p:spPr>
          <a:xfrm>
            <a:off x="391886" y="1393371"/>
            <a:ext cx="114783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2D5C05C3-6951-35CC-7A3D-9B1852FE5F25}"/>
              </a:ext>
            </a:extLst>
          </p:cNvPr>
          <p:cNvSpPr txBox="1">
            <a:spLocks/>
          </p:cNvSpPr>
          <p:nvPr/>
        </p:nvSpPr>
        <p:spPr>
          <a:xfrm>
            <a:off x="9207144" y="465741"/>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6" name="Picture 5">
            <a:extLst>
              <a:ext uri="{FF2B5EF4-FFF2-40B4-BE49-F238E27FC236}">
                <a16:creationId xmlns:a16="http://schemas.microsoft.com/office/drawing/2014/main" id="{46632DF8-D8A8-D339-DA43-01237C7F8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416" y="1496986"/>
            <a:ext cx="7641167" cy="5094111"/>
          </a:xfrm>
          <a:prstGeom prst="rect">
            <a:avLst/>
          </a:prstGeom>
        </p:spPr>
      </p:pic>
    </p:spTree>
    <p:extLst>
      <p:ext uri="{BB962C8B-B14F-4D97-AF65-F5344CB8AC3E}">
        <p14:creationId xmlns:p14="http://schemas.microsoft.com/office/powerpoint/2010/main" val="72287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4432-807B-0DD6-09B1-34C6E8C2B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516A7-B022-B9F1-4872-0FD163A8B735}"/>
              </a:ext>
            </a:extLst>
          </p:cNvPr>
          <p:cNvSpPr>
            <a:spLocks noGrp="1"/>
          </p:cNvSpPr>
          <p:nvPr>
            <p:ph type="title"/>
          </p:nvPr>
        </p:nvSpPr>
        <p:spPr>
          <a:xfrm>
            <a:off x="391886" y="163286"/>
            <a:ext cx="10115247" cy="1230689"/>
          </a:xfrm>
        </p:spPr>
        <p:txBody>
          <a:bodyPr>
            <a:noAutofit/>
          </a:bodyPr>
          <a:lstStyle/>
          <a:p>
            <a:r>
              <a:rPr lang="en-US" sz="3600" dirty="0"/>
              <a:t>Demonstration of “Greater Than” </a:t>
            </a:r>
            <a:br>
              <a:rPr lang="en-US" sz="3600" dirty="0"/>
            </a:br>
            <a:r>
              <a:rPr lang="en-US" sz="2800" dirty="0"/>
              <a:t>Last 2 digit of </a:t>
            </a:r>
            <a:r>
              <a:rPr lang="tr-TR" sz="2800" dirty="0" err="1"/>
              <a:t>my</a:t>
            </a:r>
            <a:r>
              <a:rPr lang="en-US" sz="2800" dirty="0"/>
              <a:t> Student ID in binary</a:t>
            </a:r>
            <a:r>
              <a:rPr lang="tr-TR" sz="2800" dirty="0"/>
              <a: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DAF20F3B-E537-9D94-21AB-D00798B807CC}"/>
              </a:ext>
            </a:extLst>
          </p:cNvPr>
          <p:cNvSpPr/>
          <p:nvPr/>
        </p:nvSpPr>
        <p:spPr>
          <a:xfrm>
            <a:off x="321733" y="1393371"/>
            <a:ext cx="1174326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5B1DCFF-4AF4-FEDD-19F4-BC97C1688EE5}"/>
              </a:ext>
            </a:extLst>
          </p:cNvPr>
          <p:cNvGraphicFramePr>
            <a:graphicFrameLocks noGrp="1"/>
          </p:cNvGraphicFramePr>
          <p:nvPr>
            <p:extLst>
              <p:ext uri="{D42A27DB-BD31-4B8C-83A1-F6EECF244321}">
                <p14:modId xmlns:p14="http://schemas.microsoft.com/office/powerpoint/2010/main" val="2062781475"/>
              </p:ext>
            </p:extLst>
          </p:nvPr>
        </p:nvGraphicFramePr>
        <p:xfrm>
          <a:off x="8280400" y="1475227"/>
          <a:ext cx="3725332" cy="916750"/>
        </p:xfrm>
        <a:graphic>
          <a:graphicData uri="http://schemas.openxmlformats.org/drawingml/2006/table">
            <a:tbl>
              <a:tblPr firstRow="1" bandRow="1">
                <a:tableStyleId>{5C22544A-7EE6-4342-B048-85BDC9FD1C3A}</a:tableStyleId>
              </a:tblPr>
              <a:tblGrid>
                <a:gridCol w="931333">
                  <a:extLst>
                    <a:ext uri="{9D8B030D-6E8A-4147-A177-3AD203B41FA5}">
                      <a16:colId xmlns:a16="http://schemas.microsoft.com/office/drawing/2014/main" val="4247149876"/>
                    </a:ext>
                  </a:extLst>
                </a:gridCol>
                <a:gridCol w="931333">
                  <a:extLst>
                    <a:ext uri="{9D8B030D-6E8A-4147-A177-3AD203B41FA5}">
                      <a16:colId xmlns:a16="http://schemas.microsoft.com/office/drawing/2014/main" val="508427375"/>
                    </a:ext>
                  </a:extLst>
                </a:gridCol>
                <a:gridCol w="931333">
                  <a:extLst>
                    <a:ext uri="{9D8B030D-6E8A-4147-A177-3AD203B41FA5}">
                      <a16:colId xmlns:a16="http://schemas.microsoft.com/office/drawing/2014/main" val="213524179"/>
                    </a:ext>
                  </a:extLst>
                </a:gridCol>
                <a:gridCol w="931333">
                  <a:extLst>
                    <a:ext uri="{9D8B030D-6E8A-4147-A177-3AD203B41FA5}">
                      <a16:colId xmlns:a16="http://schemas.microsoft.com/office/drawing/2014/main" val="3023160714"/>
                    </a:ext>
                  </a:extLst>
                </a:gridCol>
              </a:tblGrid>
              <a:tr h="375048">
                <a:tc>
                  <a:txBody>
                    <a:bodyPr/>
                    <a:lstStyle/>
                    <a:p>
                      <a:pPr algn="ctr">
                        <a:lnSpc>
                          <a:spcPct val="115000"/>
                        </a:lnSpc>
                        <a:spcAft>
                          <a:spcPts val="800"/>
                        </a:spcAft>
                        <a:buNone/>
                      </a:pPr>
                      <a:r>
                        <a:rPr lang="en-US" sz="1100" kern="0" dirty="0">
                          <a:effectLst/>
                        </a:rPr>
                        <a:t>Opcode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100" kern="0" dirty="0">
                          <a:effectLst/>
                        </a:rPr>
                        <a:t>Operation</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100" kern="0" dirty="0">
                          <a:solidFill>
                            <a:schemeClr val="bg1"/>
                          </a:solidFill>
                          <a:effectLst/>
                        </a:rPr>
                        <a:t>Expected Answer</a:t>
                      </a:r>
                      <a:endParaRPr lang="en-US" sz="11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100" dirty="0">
                          <a:solidFill>
                            <a:schemeClr val="bg1"/>
                          </a:solidFill>
                        </a:rPr>
                        <a:t>Result of the simulation</a:t>
                      </a:r>
                    </a:p>
                  </a:txBody>
                  <a:tcPr/>
                </a:tc>
                <a:extLst>
                  <a:ext uri="{0D108BD9-81ED-4DB2-BD59-A6C34878D82A}">
                    <a16:rowId xmlns:a16="http://schemas.microsoft.com/office/drawing/2014/main" val="3025210268"/>
                  </a:ext>
                </a:extLst>
              </a:tr>
              <a:tr h="268417">
                <a:tc>
                  <a:txBody>
                    <a:bodyPr/>
                    <a:lstStyle/>
                    <a:p>
                      <a:pPr algn="ctr">
                        <a:lnSpc>
                          <a:spcPct val="115000"/>
                        </a:lnSpc>
                        <a:spcAft>
                          <a:spcPts val="800"/>
                        </a:spcAft>
                        <a:buNone/>
                      </a:pPr>
                      <a:r>
                        <a:rPr lang="en-US" sz="1400" b="1" kern="1200" dirty="0">
                          <a:solidFill>
                            <a:schemeClr val="tx1"/>
                          </a:solidFill>
                          <a:effectLst/>
                          <a:latin typeface="+mn-lt"/>
                          <a:ea typeface="+mn-ea"/>
                          <a:cs typeface="+mn-cs"/>
                        </a:rPr>
                        <a:t>1010</a:t>
                      </a:r>
                      <a:endParaRPr lang="en-US" sz="18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b="1" kern="0" dirty="0">
                          <a:effectLst/>
                        </a:rPr>
                        <a:t>A &gt; B</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00000001</a:t>
                      </a:r>
                      <a:endParaRPr lang="en-US"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00000001</a:t>
                      </a:r>
                      <a:endParaRPr lang="en-US"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Picture 5">
            <a:extLst>
              <a:ext uri="{FF2B5EF4-FFF2-40B4-BE49-F238E27FC236}">
                <a16:creationId xmlns:a16="http://schemas.microsoft.com/office/drawing/2014/main" id="{A4A19728-12AB-F182-BA87-35D12C803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86" y="1475227"/>
            <a:ext cx="7700310" cy="5125227"/>
          </a:xfrm>
          <a:prstGeom prst="rect">
            <a:avLst/>
          </a:prstGeom>
        </p:spPr>
      </p:pic>
      <p:sp>
        <p:nvSpPr>
          <p:cNvPr id="7" name="TextBox 6">
            <a:extLst>
              <a:ext uri="{FF2B5EF4-FFF2-40B4-BE49-F238E27FC236}">
                <a16:creationId xmlns:a16="http://schemas.microsoft.com/office/drawing/2014/main" id="{92F5604F-B91E-B867-E3CA-1AE4414A8584}"/>
              </a:ext>
            </a:extLst>
          </p:cNvPr>
          <p:cNvSpPr txBox="1"/>
          <p:nvPr/>
        </p:nvSpPr>
        <p:spPr>
          <a:xfrm>
            <a:off x="8428202" y="3156305"/>
            <a:ext cx="3442065" cy="2308324"/>
          </a:xfrm>
          <a:prstGeom prst="rect">
            <a:avLst/>
          </a:prstGeom>
          <a:noFill/>
        </p:spPr>
        <p:txBody>
          <a:bodyPr wrap="square" rtlCol="0">
            <a:spAutoFit/>
          </a:bodyPr>
          <a:lstStyle/>
          <a:p>
            <a:r>
              <a:rPr lang="en-US" sz="1600" dirty="0"/>
              <a:t>The greater-than operation is determined using the subtraction result. When </a:t>
            </a:r>
            <a:r>
              <a:rPr lang="en-US" sz="1600" b="1" dirty="0"/>
              <a:t>Cout = 1</a:t>
            </a:r>
            <a:r>
              <a:rPr lang="en-US" sz="1600" dirty="0"/>
              <a:t>, it indicates that </a:t>
            </a:r>
            <a:r>
              <a:rPr lang="en-US" sz="1600" b="1" dirty="0"/>
              <a:t>A ≥ B</a:t>
            </a:r>
            <a:r>
              <a:rPr lang="en-US" sz="1600" dirty="0"/>
              <a:t>. The Zero Flag is used to distinguish equality, and the </a:t>
            </a:r>
            <a:r>
              <a:rPr lang="en-US" sz="1600" b="1" dirty="0"/>
              <a:t>Greater</a:t>
            </a:r>
            <a:r>
              <a:rPr lang="en-US" sz="1600" dirty="0"/>
              <a:t> output is asserted only when </a:t>
            </a:r>
            <a:r>
              <a:rPr lang="en-US" sz="1600" b="1" dirty="0"/>
              <a:t>Cout = 1</a:t>
            </a:r>
            <a:r>
              <a:rPr lang="en-US" sz="1600" dirty="0"/>
              <a:t> and </a:t>
            </a:r>
            <a:r>
              <a:rPr lang="en-US" sz="1600" b="1" dirty="0"/>
              <a:t>Zero = 0</a:t>
            </a:r>
            <a:r>
              <a:rPr lang="en-US" sz="1600" dirty="0"/>
              <a:t>. For this operation, only </a:t>
            </a:r>
            <a:r>
              <a:rPr lang="en-US" sz="1600" b="1" dirty="0"/>
              <a:t>Result[0]</a:t>
            </a:r>
            <a:r>
              <a:rPr lang="en-US" sz="1600" dirty="0"/>
              <a:t> is used, while all other result bits are tied to ground.</a:t>
            </a:r>
          </a:p>
        </p:txBody>
      </p:sp>
    </p:spTree>
    <p:extLst>
      <p:ext uri="{BB962C8B-B14F-4D97-AF65-F5344CB8AC3E}">
        <p14:creationId xmlns:p14="http://schemas.microsoft.com/office/powerpoint/2010/main" val="182373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C27C-50CC-0E7D-96EB-525163BE9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C2B26-EACF-4A18-36A4-DE7DE842728D}"/>
              </a:ext>
            </a:extLst>
          </p:cNvPr>
          <p:cNvSpPr>
            <a:spLocks noGrp="1"/>
          </p:cNvSpPr>
          <p:nvPr>
            <p:ph type="title"/>
          </p:nvPr>
        </p:nvSpPr>
        <p:spPr>
          <a:xfrm>
            <a:off x="386603" y="68412"/>
            <a:ext cx="10515600" cy="1325563"/>
          </a:xfrm>
        </p:spPr>
        <p:txBody>
          <a:bodyPr>
            <a:noAutofit/>
          </a:bodyPr>
          <a:lstStyle/>
          <a:p>
            <a:r>
              <a:rPr lang="en-US" sz="3600" dirty="0"/>
              <a:t>Demonstration of “Less Than” </a:t>
            </a:r>
            <a:br>
              <a:rPr lang="en-US" sz="3600" dirty="0"/>
            </a:br>
            <a:r>
              <a:rPr lang="en-US" sz="2800" dirty="0"/>
              <a:t>Last 2 digit of </a:t>
            </a:r>
            <a:r>
              <a:rPr lang="tr-TR" sz="2800" dirty="0" err="1"/>
              <a:t>my</a:t>
            </a:r>
            <a:r>
              <a:rPr lang="en-US" sz="2800" dirty="0"/>
              <a:t> Student ID in binary</a:t>
            </a:r>
            <a:r>
              <a:rPr lang="tr-TR" sz="2800" dirty="0"/>
              <a: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C5E73E06-14D1-A9DD-6BF9-3F2972B387C5}"/>
              </a:ext>
            </a:extLst>
          </p:cNvPr>
          <p:cNvSpPr/>
          <p:nvPr/>
        </p:nvSpPr>
        <p:spPr>
          <a:xfrm>
            <a:off x="386603" y="1393975"/>
            <a:ext cx="11418794"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graphicFrame>
        <p:nvGraphicFramePr>
          <p:cNvPr id="3" name="Table 2">
            <a:extLst>
              <a:ext uri="{FF2B5EF4-FFF2-40B4-BE49-F238E27FC236}">
                <a16:creationId xmlns:a16="http://schemas.microsoft.com/office/drawing/2014/main" id="{85572201-DA1A-9D5D-9A72-0F9618DC0F44}"/>
              </a:ext>
            </a:extLst>
          </p:cNvPr>
          <p:cNvGraphicFramePr>
            <a:graphicFrameLocks noGrp="1"/>
          </p:cNvGraphicFramePr>
          <p:nvPr>
            <p:extLst>
              <p:ext uri="{D42A27DB-BD31-4B8C-83A1-F6EECF244321}">
                <p14:modId xmlns:p14="http://schemas.microsoft.com/office/powerpoint/2010/main" val="2962133118"/>
              </p:ext>
            </p:extLst>
          </p:nvPr>
        </p:nvGraphicFramePr>
        <p:xfrm>
          <a:off x="1337127" y="1393975"/>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ctr">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solidFill>
                            <a:schemeClr val="bg1"/>
                          </a:solidFill>
                          <a:effectLst/>
                        </a:rPr>
                        <a:t>Expected Answer</a:t>
                      </a:r>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800" dirty="0">
                          <a:solidFill>
                            <a:schemeClr val="bg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en-US" sz="1800" kern="1200" dirty="0">
                          <a:solidFill>
                            <a:schemeClr val="tx1"/>
                          </a:solidFill>
                          <a:effectLst/>
                          <a:latin typeface="+mn-lt"/>
                          <a:ea typeface="+mn-ea"/>
                          <a:cs typeface="+mn-cs"/>
                        </a:rPr>
                        <a:t>101</a:t>
                      </a:r>
                      <a:r>
                        <a:rPr lang="tr-TR" sz="1800" kern="1200" dirty="0">
                          <a:solidFill>
                            <a:schemeClr val="tx1"/>
                          </a:solidFill>
                          <a:effectLst/>
                          <a:latin typeface="+mn-lt"/>
                          <a:ea typeface="+mn-ea"/>
                          <a:cs typeface="+mn-cs"/>
                        </a:rPr>
                        <a:t>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solidFill>
                            <a:schemeClr val="tx1"/>
                          </a:solidFill>
                          <a:effectLst/>
                        </a:rPr>
                        <a:t>A &lt;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800" dirty="0">
                          <a:solidFill>
                            <a:schemeClr val="tx1"/>
                          </a:solidFill>
                          <a:latin typeface="Calibri" panose="020F0502020204030204" pitchFamily="34" charset="0"/>
                          <a:cs typeface="Calibri" panose="020F0502020204030204" pitchFamily="34" charset="0"/>
                        </a:rPr>
                        <a:t>00000000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Picture 7" descr="A screenshot of a black screen&#10;&#10;AI-generated content may be incorrect.">
            <a:extLst>
              <a:ext uri="{FF2B5EF4-FFF2-40B4-BE49-F238E27FC236}">
                <a16:creationId xmlns:a16="http://schemas.microsoft.com/office/drawing/2014/main" id="{09B5CBBB-4C76-ABA4-D610-CD348B192809}"/>
              </a:ext>
            </a:extLst>
          </p:cNvPr>
          <p:cNvPicPr>
            <a:picLocks noChangeAspect="1"/>
          </p:cNvPicPr>
          <p:nvPr/>
        </p:nvPicPr>
        <p:blipFill>
          <a:blip r:embed="rId2"/>
          <a:srcRect b="50000"/>
          <a:stretch>
            <a:fillRect/>
          </a:stretch>
        </p:blipFill>
        <p:spPr>
          <a:xfrm>
            <a:off x="717064" y="2618853"/>
            <a:ext cx="10757871" cy="3572933"/>
          </a:xfrm>
          <a:prstGeom prst="rect">
            <a:avLst/>
          </a:prstGeom>
        </p:spPr>
      </p:pic>
    </p:spTree>
    <p:extLst>
      <p:ext uri="{BB962C8B-B14F-4D97-AF65-F5344CB8AC3E}">
        <p14:creationId xmlns:p14="http://schemas.microsoft.com/office/powerpoint/2010/main" val="3830342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3C33E-60E7-06C7-E0CA-3CEDE5E74D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CAB74-C8F4-5C3B-123D-630E1C2365DC}"/>
              </a:ext>
            </a:extLst>
          </p:cNvPr>
          <p:cNvSpPr>
            <a:spLocks noGrp="1"/>
          </p:cNvSpPr>
          <p:nvPr>
            <p:ph type="title"/>
          </p:nvPr>
        </p:nvSpPr>
        <p:spPr>
          <a:xfrm>
            <a:off x="386603" y="68412"/>
            <a:ext cx="10515600" cy="1325563"/>
          </a:xfrm>
        </p:spPr>
        <p:txBody>
          <a:bodyPr>
            <a:noAutofit/>
          </a:bodyPr>
          <a:lstStyle/>
          <a:p>
            <a:r>
              <a:rPr lang="en-US" sz="3600" dirty="0"/>
              <a:t>Demonstration of “Less Than” </a:t>
            </a:r>
            <a:br>
              <a:rPr lang="en-US" sz="3600" dirty="0"/>
            </a:br>
            <a:r>
              <a:rPr lang="en-US" sz="2800" dirty="0"/>
              <a:t>Last 2 digit of </a:t>
            </a:r>
            <a:r>
              <a:rPr lang="tr-TR" sz="2800" dirty="0" err="1"/>
              <a:t>my</a:t>
            </a:r>
            <a:r>
              <a:rPr lang="en-US" sz="2800" dirty="0"/>
              <a:t> Student ID in binary</a:t>
            </a:r>
            <a:r>
              <a:rPr lang="tr-TR" sz="2800" dirty="0"/>
              <a: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6E8CA6BD-E8EA-B408-BFB3-9C406F5ED872}"/>
              </a:ext>
            </a:extLst>
          </p:cNvPr>
          <p:cNvSpPr/>
          <p:nvPr/>
        </p:nvSpPr>
        <p:spPr>
          <a:xfrm>
            <a:off x="386603" y="1393975"/>
            <a:ext cx="11418794"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
        <p:nvSpPr>
          <p:cNvPr id="5" name="Title 1">
            <a:extLst>
              <a:ext uri="{FF2B5EF4-FFF2-40B4-BE49-F238E27FC236}">
                <a16:creationId xmlns:a16="http://schemas.microsoft.com/office/drawing/2014/main" id="{F6601106-5D01-5AA4-6DC3-EA89E6914B54}"/>
              </a:ext>
            </a:extLst>
          </p:cNvPr>
          <p:cNvSpPr txBox="1">
            <a:spLocks/>
          </p:cNvSpPr>
          <p:nvPr/>
        </p:nvSpPr>
        <p:spPr>
          <a:xfrm>
            <a:off x="9207144" y="465741"/>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pic>
        <p:nvPicPr>
          <p:cNvPr id="10" name="Picture 9">
            <a:extLst>
              <a:ext uri="{FF2B5EF4-FFF2-40B4-BE49-F238E27FC236}">
                <a16:creationId xmlns:a16="http://schemas.microsoft.com/office/drawing/2014/main" id="{99CBFBEE-F26C-DA58-07EC-7229C0786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775" y="1497544"/>
            <a:ext cx="7812450" cy="5197774"/>
          </a:xfrm>
          <a:prstGeom prst="rect">
            <a:avLst/>
          </a:prstGeom>
        </p:spPr>
      </p:pic>
    </p:spTree>
    <p:extLst>
      <p:ext uri="{BB962C8B-B14F-4D97-AF65-F5344CB8AC3E}">
        <p14:creationId xmlns:p14="http://schemas.microsoft.com/office/powerpoint/2010/main" val="3820948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F829B-13F0-16B7-EF57-F340F7A8A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084BC-C279-A97F-81CD-96DD947A689A}"/>
              </a:ext>
            </a:extLst>
          </p:cNvPr>
          <p:cNvSpPr>
            <a:spLocks noGrp="1"/>
          </p:cNvSpPr>
          <p:nvPr>
            <p:ph type="title"/>
          </p:nvPr>
        </p:nvSpPr>
        <p:spPr>
          <a:xfrm>
            <a:off x="386603" y="68412"/>
            <a:ext cx="10515600" cy="1325563"/>
          </a:xfrm>
        </p:spPr>
        <p:txBody>
          <a:bodyPr>
            <a:noAutofit/>
          </a:bodyPr>
          <a:lstStyle/>
          <a:p>
            <a:r>
              <a:rPr lang="en-US" sz="3600" dirty="0"/>
              <a:t>Demonstration of “Less Than” </a:t>
            </a:r>
            <a:br>
              <a:rPr lang="en-US" sz="3600" dirty="0"/>
            </a:br>
            <a:r>
              <a:rPr lang="en-US" sz="2800" dirty="0"/>
              <a:t>Last 2 digit of </a:t>
            </a:r>
            <a:r>
              <a:rPr lang="tr-TR" sz="2800" dirty="0" err="1"/>
              <a:t>my</a:t>
            </a:r>
            <a:r>
              <a:rPr lang="en-US" sz="2800" dirty="0"/>
              <a:t> Student ID in binary</a:t>
            </a:r>
            <a:r>
              <a:rPr lang="tr-TR" sz="2800" dirty="0"/>
              <a: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39ABDF6E-02FE-5AF8-DE17-449326D8A84C}"/>
              </a:ext>
            </a:extLst>
          </p:cNvPr>
          <p:cNvSpPr/>
          <p:nvPr/>
        </p:nvSpPr>
        <p:spPr>
          <a:xfrm>
            <a:off x="386603" y="1393975"/>
            <a:ext cx="11418794"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
        <p:nvSpPr>
          <p:cNvPr id="5" name="Title 1">
            <a:extLst>
              <a:ext uri="{FF2B5EF4-FFF2-40B4-BE49-F238E27FC236}">
                <a16:creationId xmlns:a16="http://schemas.microsoft.com/office/drawing/2014/main" id="{2581BD1C-ADAF-C83F-120D-9A318C1829AC}"/>
              </a:ext>
            </a:extLst>
          </p:cNvPr>
          <p:cNvSpPr txBox="1">
            <a:spLocks/>
          </p:cNvSpPr>
          <p:nvPr/>
        </p:nvSpPr>
        <p:spPr>
          <a:xfrm>
            <a:off x="9207144" y="465741"/>
            <a:ext cx="240488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10" name="Picture 9">
            <a:extLst>
              <a:ext uri="{FF2B5EF4-FFF2-40B4-BE49-F238E27FC236}">
                <a16:creationId xmlns:a16="http://schemas.microsoft.com/office/drawing/2014/main" id="{B4BEECAC-0931-5D0F-0FDD-D67154394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2716" y="1489123"/>
            <a:ext cx="7666567" cy="5111045"/>
          </a:xfrm>
          <a:prstGeom prst="rect">
            <a:avLst/>
          </a:prstGeom>
        </p:spPr>
      </p:pic>
    </p:spTree>
    <p:extLst>
      <p:ext uri="{BB962C8B-B14F-4D97-AF65-F5344CB8AC3E}">
        <p14:creationId xmlns:p14="http://schemas.microsoft.com/office/powerpoint/2010/main" val="1646763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84485-6640-6192-E149-3685A6CA3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5A187-3D33-8EED-EFF5-18C1D83A1BC0}"/>
              </a:ext>
            </a:extLst>
          </p:cNvPr>
          <p:cNvSpPr>
            <a:spLocks noGrp="1"/>
          </p:cNvSpPr>
          <p:nvPr>
            <p:ph type="title"/>
          </p:nvPr>
        </p:nvSpPr>
        <p:spPr>
          <a:xfrm>
            <a:off x="386603" y="68412"/>
            <a:ext cx="10515600" cy="1325563"/>
          </a:xfrm>
        </p:spPr>
        <p:txBody>
          <a:bodyPr>
            <a:noAutofit/>
          </a:bodyPr>
          <a:lstStyle/>
          <a:p>
            <a:r>
              <a:rPr lang="en-US" sz="3600" dirty="0"/>
              <a:t>Demonstration of “Less Than” </a:t>
            </a:r>
            <a:br>
              <a:rPr lang="en-US" sz="3600" dirty="0"/>
            </a:br>
            <a:r>
              <a:rPr lang="en-US" sz="2800" dirty="0"/>
              <a:t>Last 2 digit of </a:t>
            </a:r>
            <a:r>
              <a:rPr lang="tr-TR" sz="2800" dirty="0" err="1"/>
              <a:t>my</a:t>
            </a:r>
            <a:r>
              <a:rPr lang="en-US" sz="2800" dirty="0"/>
              <a:t> Student ID in binary</a:t>
            </a:r>
            <a:r>
              <a:rPr lang="tr-TR" sz="2800" dirty="0"/>
              <a:t>: A = 01001110</a:t>
            </a:r>
            <a:r>
              <a:rPr lang="en-US" sz="2800" dirty="0"/>
              <a:t> </a:t>
            </a:r>
            <a:br>
              <a:rPr lang="tr-TR" sz="2800" dirty="0"/>
            </a:br>
            <a:r>
              <a:rPr lang="tr-TR" sz="2800" dirty="0"/>
              <a:t>B = </a:t>
            </a:r>
            <a:r>
              <a:rPr lang="en-US" sz="2800" dirty="0"/>
              <a:t>101</a:t>
            </a:r>
            <a:endParaRPr lang="en-US" sz="2800" dirty="0">
              <a:solidFill>
                <a:srgbClr val="FF0000"/>
              </a:solidFill>
            </a:endParaRPr>
          </a:p>
        </p:txBody>
      </p:sp>
      <p:sp>
        <p:nvSpPr>
          <p:cNvPr id="4" name="Rectangle 3">
            <a:extLst>
              <a:ext uri="{FF2B5EF4-FFF2-40B4-BE49-F238E27FC236}">
                <a16:creationId xmlns:a16="http://schemas.microsoft.com/office/drawing/2014/main" id="{E3AC9507-BFE3-9CA3-54BB-A60E7C5DE078}"/>
              </a:ext>
            </a:extLst>
          </p:cNvPr>
          <p:cNvSpPr/>
          <p:nvPr/>
        </p:nvSpPr>
        <p:spPr>
          <a:xfrm>
            <a:off x="265268" y="1393975"/>
            <a:ext cx="11661464"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graphicFrame>
        <p:nvGraphicFramePr>
          <p:cNvPr id="3" name="Table 2">
            <a:extLst>
              <a:ext uri="{FF2B5EF4-FFF2-40B4-BE49-F238E27FC236}">
                <a16:creationId xmlns:a16="http://schemas.microsoft.com/office/drawing/2014/main" id="{2410C1EF-A321-E563-751F-FBC7508AABBC}"/>
              </a:ext>
            </a:extLst>
          </p:cNvPr>
          <p:cNvGraphicFramePr>
            <a:graphicFrameLocks noGrp="1"/>
          </p:cNvGraphicFramePr>
          <p:nvPr>
            <p:extLst>
              <p:ext uri="{D42A27DB-BD31-4B8C-83A1-F6EECF244321}">
                <p14:modId xmlns:p14="http://schemas.microsoft.com/office/powerpoint/2010/main" val="1308789312"/>
              </p:ext>
            </p:extLst>
          </p:nvPr>
        </p:nvGraphicFramePr>
        <p:xfrm>
          <a:off x="7834273" y="1480397"/>
          <a:ext cx="3994012" cy="1010920"/>
        </p:xfrm>
        <a:graphic>
          <a:graphicData uri="http://schemas.openxmlformats.org/drawingml/2006/table">
            <a:tbl>
              <a:tblPr firstRow="1" bandRow="1">
                <a:tableStyleId>{5C22544A-7EE6-4342-B048-85BDC9FD1C3A}</a:tableStyleId>
              </a:tblPr>
              <a:tblGrid>
                <a:gridCol w="998503">
                  <a:extLst>
                    <a:ext uri="{9D8B030D-6E8A-4147-A177-3AD203B41FA5}">
                      <a16:colId xmlns:a16="http://schemas.microsoft.com/office/drawing/2014/main" val="4247149876"/>
                    </a:ext>
                  </a:extLst>
                </a:gridCol>
                <a:gridCol w="998503">
                  <a:extLst>
                    <a:ext uri="{9D8B030D-6E8A-4147-A177-3AD203B41FA5}">
                      <a16:colId xmlns:a16="http://schemas.microsoft.com/office/drawing/2014/main" val="508427375"/>
                    </a:ext>
                  </a:extLst>
                </a:gridCol>
                <a:gridCol w="998503">
                  <a:extLst>
                    <a:ext uri="{9D8B030D-6E8A-4147-A177-3AD203B41FA5}">
                      <a16:colId xmlns:a16="http://schemas.microsoft.com/office/drawing/2014/main" val="213524179"/>
                    </a:ext>
                  </a:extLst>
                </a:gridCol>
                <a:gridCol w="998503">
                  <a:extLst>
                    <a:ext uri="{9D8B030D-6E8A-4147-A177-3AD203B41FA5}">
                      <a16:colId xmlns:a16="http://schemas.microsoft.com/office/drawing/2014/main" val="3023160714"/>
                    </a:ext>
                  </a:extLst>
                </a:gridCol>
              </a:tblGrid>
              <a:tr h="370840">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bg1"/>
                          </a:solidFill>
                          <a:effectLst/>
                        </a:rPr>
                        <a:t>Expected Answer</a:t>
                      </a: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bg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en-US" sz="1400" b="1" kern="1200" dirty="0">
                          <a:solidFill>
                            <a:schemeClr val="tx1"/>
                          </a:solidFill>
                          <a:effectLst/>
                          <a:latin typeface="+mn-lt"/>
                          <a:ea typeface="+mn-ea"/>
                          <a:cs typeface="+mn-cs"/>
                        </a:rPr>
                        <a:t>101</a:t>
                      </a:r>
                      <a:r>
                        <a:rPr lang="tr-TR" sz="1400" b="1" kern="1200" dirty="0">
                          <a:solidFill>
                            <a:schemeClr val="tx1"/>
                          </a:solidFill>
                          <a:effectLst/>
                          <a:latin typeface="+mn-lt"/>
                          <a:ea typeface="+mn-ea"/>
                          <a:cs typeface="+mn-cs"/>
                        </a:rPr>
                        <a:t>1</a:t>
                      </a:r>
                      <a:endParaRPr lang="en-US" sz="18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b="1" kern="0" dirty="0">
                          <a:solidFill>
                            <a:schemeClr val="tx1"/>
                          </a:solidFill>
                          <a:effectLst/>
                        </a:rPr>
                        <a:t>A &lt; B</a:t>
                      </a:r>
                      <a:endParaRPr lang="en-US" sz="18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400" b="1"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400" b="1" dirty="0">
                          <a:solidFill>
                            <a:schemeClr val="tx1"/>
                          </a:solidFill>
                          <a:latin typeface="Calibri" panose="020F0502020204030204" pitchFamily="34" charset="0"/>
                          <a:cs typeface="Calibri" panose="020F0502020204030204" pitchFamily="34" charset="0"/>
                        </a:rPr>
                        <a:t>00000000</a:t>
                      </a:r>
                      <a:endParaRPr lang="en-US" sz="1400" b="1"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Picture 5">
            <a:extLst>
              <a:ext uri="{FF2B5EF4-FFF2-40B4-BE49-F238E27FC236}">
                <a16:creationId xmlns:a16="http://schemas.microsoft.com/office/drawing/2014/main" id="{78336336-1AAD-6C6F-BD40-AE9C84B0D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268" y="1480397"/>
            <a:ext cx="7470558" cy="4960257"/>
          </a:xfrm>
          <a:prstGeom prst="rect">
            <a:avLst/>
          </a:prstGeom>
        </p:spPr>
      </p:pic>
      <p:sp>
        <p:nvSpPr>
          <p:cNvPr id="7" name="TextBox 6">
            <a:extLst>
              <a:ext uri="{FF2B5EF4-FFF2-40B4-BE49-F238E27FC236}">
                <a16:creationId xmlns:a16="http://schemas.microsoft.com/office/drawing/2014/main" id="{393B5469-3FAE-0ED3-AD33-FEE6C4DD5C8C}"/>
              </a:ext>
            </a:extLst>
          </p:cNvPr>
          <p:cNvSpPr txBox="1"/>
          <p:nvPr/>
        </p:nvSpPr>
        <p:spPr>
          <a:xfrm>
            <a:off x="8187536" y="3069279"/>
            <a:ext cx="3287486" cy="2308324"/>
          </a:xfrm>
          <a:prstGeom prst="rect">
            <a:avLst/>
          </a:prstGeom>
          <a:noFill/>
        </p:spPr>
        <p:txBody>
          <a:bodyPr wrap="square" rtlCol="0">
            <a:spAutoFit/>
          </a:bodyPr>
          <a:lstStyle/>
          <a:p>
            <a:r>
              <a:rPr lang="en-US" dirty="0"/>
              <a:t>The less-than operation is evaluated using the subtraction result. Since </a:t>
            </a:r>
            <a:r>
              <a:rPr lang="en-US" b="1" dirty="0"/>
              <a:t>A &gt; B</a:t>
            </a:r>
            <a:r>
              <a:rPr lang="en-US" dirty="0"/>
              <a:t>, no borrow occurs and the </a:t>
            </a:r>
            <a:r>
              <a:rPr lang="en-US" b="1" dirty="0"/>
              <a:t>Less</a:t>
            </a:r>
            <a:r>
              <a:rPr lang="en-US" dirty="0"/>
              <a:t> condition is false. Therefore, the output remains </a:t>
            </a:r>
            <a:r>
              <a:rPr lang="en-US" b="1" dirty="0"/>
              <a:t>0</a:t>
            </a:r>
            <a:r>
              <a:rPr lang="en-US" dirty="0"/>
              <a:t>, and only </a:t>
            </a:r>
            <a:r>
              <a:rPr lang="en-US" b="1" dirty="0"/>
              <a:t>Result[0]</a:t>
            </a:r>
            <a:r>
              <a:rPr lang="en-US" dirty="0"/>
              <a:t> is used while the remaining bits are tied to ground.</a:t>
            </a:r>
          </a:p>
        </p:txBody>
      </p:sp>
    </p:spTree>
    <p:extLst>
      <p:ext uri="{BB962C8B-B14F-4D97-AF65-F5344CB8AC3E}">
        <p14:creationId xmlns:p14="http://schemas.microsoft.com/office/powerpoint/2010/main" val="30158517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D420-1492-CCA4-E5D9-6404D917D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E5A33-8359-CEDE-CA97-B6529E15F8E2}"/>
              </a:ext>
            </a:extLst>
          </p:cNvPr>
          <p:cNvSpPr>
            <a:spLocks noGrp="1"/>
          </p:cNvSpPr>
          <p:nvPr>
            <p:ph type="title"/>
          </p:nvPr>
        </p:nvSpPr>
        <p:spPr>
          <a:xfrm>
            <a:off x="838200" y="67808"/>
            <a:ext cx="10515600" cy="1325563"/>
          </a:xfrm>
        </p:spPr>
        <p:txBody>
          <a:bodyPr>
            <a:normAutofit fontScale="90000"/>
          </a:bodyPr>
          <a:lstStyle/>
          <a:p>
            <a:r>
              <a:rPr lang="en-US" dirty="0"/>
              <a:t>Demonstration of “Arithmetic left shift” </a:t>
            </a:r>
            <a:br>
              <a:rPr lang="en-US" dirty="0"/>
            </a:br>
            <a:r>
              <a:rPr lang="en-US" sz="3600" dirty="0"/>
              <a:t>Last 2 digit of </a:t>
            </a:r>
            <a:r>
              <a:rPr lang="tr-TR" sz="3600" dirty="0" err="1"/>
              <a:t>my</a:t>
            </a:r>
            <a:r>
              <a:rPr lang="en-US" sz="3600" dirty="0"/>
              <a:t> Student ID in binary</a:t>
            </a:r>
            <a:r>
              <a:rPr lang="tr-TR" sz="3600" dirty="0"/>
              <a:t>: A = 01001110 </a:t>
            </a:r>
            <a:r>
              <a:rPr lang="en-US" sz="3600" dirty="0"/>
              <a:t>&lt;&lt;&lt;1</a:t>
            </a:r>
          </a:p>
        </p:txBody>
      </p:sp>
      <p:sp>
        <p:nvSpPr>
          <p:cNvPr id="4" name="Rectangle 3">
            <a:extLst>
              <a:ext uri="{FF2B5EF4-FFF2-40B4-BE49-F238E27FC236}">
                <a16:creationId xmlns:a16="http://schemas.microsoft.com/office/drawing/2014/main" id="{DF8689AA-8F39-FA59-E021-341328E09DE7}"/>
              </a:ext>
            </a:extLst>
          </p:cNvPr>
          <p:cNvSpPr/>
          <p:nvPr/>
        </p:nvSpPr>
        <p:spPr>
          <a:xfrm>
            <a:off x="365275" y="1393371"/>
            <a:ext cx="114614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B5694BD-9863-C1AF-1AE5-F877A9D46212}"/>
              </a:ext>
            </a:extLst>
          </p:cNvPr>
          <p:cNvGraphicFramePr>
            <a:graphicFrameLocks noGrp="1"/>
          </p:cNvGraphicFramePr>
          <p:nvPr>
            <p:extLst>
              <p:ext uri="{D42A27DB-BD31-4B8C-83A1-F6EECF244321}">
                <p14:modId xmlns:p14="http://schemas.microsoft.com/office/powerpoint/2010/main" val="2434237537"/>
              </p:ext>
            </p:extLst>
          </p:nvPr>
        </p:nvGraphicFramePr>
        <p:xfrm>
          <a:off x="2382539" y="1564615"/>
          <a:ext cx="7480140" cy="1010920"/>
        </p:xfrm>
        <a:graphic>
          <a:graphicData uri="http://schemas.openxmlformats.org/drawingml/2006/table">
            <a:tbl>
              <a:tblPr firstRow="1" bandRow="1">
                <a:tableStyleId>{5C22544A-7EE6-4342-B048-85BDC9FD1C3A}</a:tableStyleId>
              </a:tblPr>
              <a:tblGrid>
                <a:gridCol w="1870035">
                  <a:extLst>
                    <a:ext uri="{9D8B030D-6E8A-4147-A177-3AD203B41FA5}">
                      <a16:colId xmlns:a16="http://schemas.microsoft.com/office/drawing/2014/main" val="4247149876"/>
                    </a:ext>
                  </a:extLst>
                </a:gridCol>
                <a:gridCol w="1870035">
                  <a:extLst>
                    <a:ext uri="{9D8B030D-6E8A-4147-A177-3AD203B41FA5}">
                      <a16:colId xmlns:a16="http://schemas.microsoft.com/office/drawing/2014/main" val="508427375"/>
                    </a:ext>
                  </a:extLst>
                </a:gridCol>
                <a:gridCol w="1870035">
                  <a:extLst>
                    <a:ext uri="{9D8B030D-6E8A-4147-A177-3AD203B41FA5}">
                      <a16:colId xmlns:a16="http://schemas.microsoft.com/office/drawing/2014/main" val="213524179"/>
                    </a:ext>
                  </a:extLst>
                </a:gridCol>
                <a:gridCol w="1870035">
                  <a:extLst>
                    <a:ext uri="{9D8B030D-6E8A-4147-A177-3AD203B41FA5}">
                      <a16:colId xmlns:a16="http://schemas.microsoft.com/office/drawing/2014/main" val="3023160714"/>
                    </a:ext>
                  </a:extLst>
                </a:gridCol>
              </a:tblGrid>
              <a:tr h="370840">
                <a:tc>
                  <a:txBody>
                    <a:bodyPr/>
                    <a:lstStyle/>
                    <a:p>
                      <a:pPr algn="ctr">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solidFill>
                            <a:schemeClr val="bg1"/>
                          </a:solidFill>
                          <a:effectLst/>
                        </a:rPr>
                        <a:t>Expected Answer</a:t>
                      </a:r>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800" dirty="0">
                          <a:solidFill>
                            <a:schemeClr val="bg1"/>
                          </a:solidFill>
                        </a:rPr>
                        <a:t>Result of the simulation</a:t>
                      </a:r>
                    </a:p>
                  </a:txBody>
                  <a:tcPr/>
                </a:tc>
                <a:extLst>
                  <a:ext uri="{0D108BD9-81ED-4DB2-BD59-A6C34878D82A}">
                    <a16:rowId xmlns:a16="http://schemas.microsoft.com/office/drawing/2014/main" val="3025210268"/>
                  </a:ext>
                </a:extLst>
              </a:tr>
              <a:tr h="370840">
                <a:tc>
                  <a:txBody>
                    <a:bodyPr/>
                    <a:lstStyle/>
                    <a:p>
                      <a:pPr algn="ctr">
                        <a:lnSpc>
                          <a:spcPct val="115000"/>
                        </a:lnSpc>
                        <a:spcAft>
                          <a:spcPts val="800"/>
                        </a:spcAft>
                        <a:buNone/>
                      </a:pPr>
                      <a:r>
                        <a:rPr lang="en-US" sz="1800" b="1" kern="1200" dirty="0">
                          <a:solidFill>
                            <a:schemeClr val="tx1"/>
                          </a:solidFill>
                          <a:effectLst/>
                          <a:latin typeface="+mn-lt"/>
                          <a:ea typeface="+mn-ea"/>
                          <a:cs typeface="+mn-cs"/>
                        </a:rPr>
                        <a:t>1110</a:t>
                      </a:r>
                      <a:endParaRPr lang="en-US" sz="2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b="1" kern="0" dirty="0">
                          <a:effectLst/>
                        </a:rPr>
                        <a:t>A &lt;&lt;&lt; B</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b="1" dirty="0"/>
                        <a:t>10011100</a:t>
                      </a:r>
                      <a:endParaRPr lang="en-US" sz="1800" b="1"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b="1" dirty="0"/>
                        <a:t>10011100</a:t>
                      </a:r>
                      <a:endParaRPr lang="en-US" sz="1800" b="1" dirty="0">
                        <a:solidFill>
                          <a:srgbClr val="FF0000"/>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Picture 7" descr="A screenshot of a black screen&#10;&#10;AI-generated content may be incorrect.">
            <a:extLst>
              <a:ext uri="{FF2B5EF4-FFF2-40B4-BE49-F238E27FC236}">
                <a16:creationId xmlns:a16="http://schemas.microsoft.com/office/drawing/2014/main" id="{199BAA40-F00E-3B98-E052-8EA019D4BA7C}"/>
              </a:ext>
            </a:extLst>
          </p:cNvPr>
          <p:cNvPicPr>
            <a:picLocks noChangeAspect="1"/>
          </p:cNvPicPr>
          <p:nvPr/>
        </p:nvPicPr>
        <p:blipFill>
          <a:blip r:embed="rId2"/>
          <a:srcRect b="50864"/>
          <a:stretch>
            <a:fillRect/>
          </a:stretch>
        </p:blipFill>
        <p:spPr>
          <a:xfrm>
            <a:off x="693058" y="2818153"/>
            <a:ext cx="10805883" cy="3511089"/>
          </a:xfrm>
          <a:prstGeom prst="rect">
            <a:avLst/>
          </a:prstGeom>
        </p:spPr>
      </p:pic>
    </p:spTree>
    <p:extLst>
      <p:ext uri="{BB962C8B-B14F-4D97-AF65-F5344CB8AC3E}">
        <p14:creationId xmlns:p14="http://schemas.microsoft.com/office/powerpoint/2010/main" val="3565472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86AA-2C1E-7961-7EBC-ABB6145B3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A1540-99BB-2F14-2313-D50105E15037}"/>
              </a:ext>
            </a:extLst>
          </p:cNvPr>
          <p:cNvSpPr>
            <a:spLocks noGrp="1"/>
          </p:cNvSpPr>
          <p:nvPr>
            <p:ph type="title"/>
          </p:nvPr>
        </p:nvSpPr>
        <p:spPr>
          <a:xfrm>
            <a:off x="281819" y="64826"/>
            <a:ext cx="10233781" cy="1325563"/>
          </a:xfrm>
        </p:spPr>
        <p:txBody>
          <a:bodyPr>
            <a:normAutofit fontScale="90000"/>
          </a:bodyPr>
          <a:lstStyle/>
          <a:p>
            <a:r>
              <a:rPr lang="en-US" dirty="0"/>
              <a:t>Demonstration of “Arithmetic left shift” </a:t>
            </a:r>
            <a:br>
              <a:rPr lang="en-US" dirty="0"/>
            </a:br>
            <a:r>
              <a:rPr lang="en-US" sz="3600" dirty="0"/>
              <a:t>Last 2 digit of </a:t>
            </a:r>
            <a:r>
              <a:rPr lang="tr-TR" sz="3600" dirty="0" err="1"/>
              <a:t>my</a:t>
            </a:r>
            <a:r>
              <a:rPr lang="en-US" sz="3600" dirty="0"/>
              <a:t> Student ID in binary</a:t>
            </a:r>
            <a:r>
              <a:rPr lang="tr-TR" sz="3600" dirty="0"/>
              <a:t>: A = 01001110 </a:t>
            </a:r>
            <a:r>
              <a:rPr lang="en-US" sz="3600" dirty="0"/>
              <a:t>&lt;&lt;&lt;1</a:t>
            </a:r>
          </a:p>
        </p:txBody>
      </p:sp>
      <p:sp>
        <p:nvSpPr>
          <p:cNvPr id="4" name="Rectangle 3">
            <a:extLst>
              <a:ext uri="{FF2B5EF4-FFF2-40B4-BE49-F238E27FC236}">
                <a16:creationId xmlns:a16="http://schemas.microsoft.com/office/drawing/2014/main" id="{9603FD0A-3E70-9515-2509-E86820F994B7}"/>
              </a:ext>
            </a:extLst>
          </p:cNvPr>
          <p:cNvSpPr/>
          <p:nvPr/>
        </p:nvSpPr>
        <p:spPr>
          <a:xfrm>
            <a:off x="391886" y="1393371"/>
            <a:ext cx="114614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93836D7E-FFBD-7A9E-7BEA-586D3E36B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602" y="1432722"/>
            <a:ext cx="7830795" cy="5222640"/>
          </a:xfrm>
          <a:prstGeom prst="rect">
            <a:avLst/>
          </a:prstGeom>
        </p:spPr>
      </p:pic>
      <p:sp>
        <p:nvSpPr>
          <p:cNvPr id="7" name="Title 1">
            <a:extLst>
              <a:ext uri="{FF2B5EF4-FFF2-40B4-BE49-F238E27FC236}">
                <a16:creationId xmlns:a16="http://schemas.microsoft.com/office/drawing/2014/main" id="{BCDD7492-4508-74C1-5773-E83F245FA8A3}"/>
              </a:ext>
            </a:extLst>
          </p:cNvPr>
          <p:cNvSpPr txBox="1">
            <a:spLocks/>
          </p:cNvSpPr>
          <p:nvPr/>
        </p:nvSpPr>
        <p:spPr>
          <a:xfrm>
            <a:off x="10038006" y="660474"/>
            <a:ext cx="2153994" cy="93859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A</a:t>
            </a:r>
            <a:endParaRPr lang="en-US" sz="3600" dirty="0">
              <a:solidFill>
                <a:srgbClr val="FF0000"/>
              </a:solidFill>
            </a:endParaRPr>
          </a:p>
        </p:txBody>
      </p:sp>
    </p:spTree>
    <p:extLst>
      <p:ext uri="{BB962C8B-B14F-4D97-AF65-F5344CB8AC3E}">
        <p14:creationId xmlns:p14="http://schemas.microsoft.com/office/powerpoint/2010/main" val="3847609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636D-32F9-ED0D-C18D-C2BDE976A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C980C-4134-4596-1D7A-3477C1B27927}"/>
              </a:ext>
            </a:extLst>
          </p:cNvPr>
          <p:cNvSpPr>
            <a:spLocks noGrp="1"/>
          </p:cNvSpPr>
          <p:nvPr>
            <p:ph type="title"/>
          </p:nvPr>
        </p:nvSpPr>
        <p:spPr>
          <a:xfrm>
            <a:off x="338667" y="68412"/>
            <a:ext cx="10515600" cy="1325563"/>
          </a:xfrm>
        </p:spPr>
        <p:txBody>
          <a:bodyPr>
            <a:normAutofit fontScale="90000"/>
          </a:bodyPr>
          <a:lstStyle/>
          <a:p>
            <a:r>
              <a:rPr lang="en-US" dirty="0"/>
              <a:t>Demonstration of “Arithmetic left shift” </a:t>
            </a:r>
            <a:br>
              <a:rPr lang="en-US" dirty="0"/>
            </a:br>
            <a:r>
              <a:rPr lang="en-US" sz="3600" dirty="0"/>
              <a:t>Last 2 digit of </a:t>
            </a:r>
            <a:r>
              <a:rPr lang="tr-TR" sz="3600" dirty="0" err="1"/>
              <a:t>my</a:t>
            </a:r>
            <a:r>
              <a:rPr lang="en-US" sz="3600" dirty="0"/>
              <a:t> Student ID in binary</a:t>
            </a:r>
            <a:r>
              <a:rPr lang="tr-TR" sz="3600" dirty="0"/>
              <a:t>: A = 01001110 </a:t>
            </a:r>
            <a:r>
              <a:rPr lang="en-US" sz="3600" dirty="0"/>
              <a:t>&lt;&lt;&lt;1</a:t>
            </a:r>
          </a:p>
        </p:txBody>
      </p:sp>
      <p:sp>
        <p:nvSpPr>
          <p:cNvPr id="4" name="Rectangle 3">
            <a:extLst>
              <a:ext uri="{FF2B5EF4-FFF2-40B4-BE49-F238E27FC236}">
                <a16:creationId xmlns:a16="http://schemas.microsoft.com/office/drawing/2014/main" id="{45A99AC2-0BE5-2613-027D-07F1B7413583}"/>
              </a:ext>
            </a:extLst>
          </p:cNvPr>
          <p:cNvSpPr/>
          <p:nvPr/>
        </p:nvSpPr>
        <p:spPr>
          <a:xfrm>
            <a:off x="391886" y="1393371"/>
            <a:ext cx="114614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itle 1">
            <a:extLst>
              <a:ext uri="{FF2B5EF4-FFF2-40B4-BE49-F238E27FC236}">
                <a16:creationId xmlns:a16="http://schemas.microsoft.com/office/drawing/2014/main" id="{1C7C6788-B358-B7A2-B961-2B8AB47D48B9}"/>
              </a:ext>
            </a:extLst>
          </p:cNvPr>
          <p:cNvSpPr txBox="1">
            <a:spLocks/>
          </p:cNvSpPr>
          <p:nvPr/>
        </p:nvSpPr>
        <p:spPr>
          <a:xfrm>
            <a:off x="10139606" y="753533"/>
            <a:ext cx="1993127" cy="854006"/>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a:t>INPUT B</a:t>
            </a:r>
            <a:endParaRPr lang="en-US" sz="3600" dirty="0">
              <a:solidFill>
                <a:srgbClr val="FF0000"/>
              </a:solidFill>
            </a:endParaRPr>
          </a:p>
        </p:txBody>
      </p:sp>
      <p:pic>
        <p:nvPicPr>
          <p:cNvPr id="7" name="Picture 6">
            <a:extLst>
              <a:ext uri="{FF2B5EF4-FFF2-40B4-BE49-F238E27FC236}">
                <a16:creationId xmlns:a16="http://schemas.microsoft.com/office/drawing/2014/main" id="{03FCBC35-5913-E0CC-98BB-3075F5F186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5025" y="1390587"/>
            <a:ext cx="7941949" cy="5307515"/>
          </a:xfrm>
          <a:prstGeom prst="rect">
            <a:avLst/>
          </a:prstGeom>
        </p:spPr>
      </p:pic>
    </p:spTree>
    <p:extLst>
      <p:ext uri="{BB962C8B-B14F-4D97-AF65-F5344CB8AC3E}">
        <p14:creationId xmlns:p14="http://schemas.microsoft.com/office/powerpoint/2010/main" val="18277837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4ED9-4E82-9F08-2C34-EFBD23265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5C420-A2FD-23B8-B1A6-81BAA2C652A4}"/>
              </a:ext>
            </a:extLst>
          </p:cNvPr>
          <p:cNvSpPr>
            <a:spLocks noGrp="1"/>
          </p:cNvSpPr>
          <p:nvPr>
            <p:ph type="title"/>
          </p:nvPr>
        </p:nvSpPr>
        <p:spPr>
          <a:xfrm>
            <a:off x="338667" y="67808"/>
            <a:ext cx="10515600" cy="1325563"/>
          </a:xfrm>
        </p:spPr>
        <p:txBody>
          <a:bodyPr>
            <a:normAutofit fontScale="90000"/>
          </a:bodyPr>
          <a:lstStyle/>
          <a:p>
            <a:r>
              <a:rPr lang="en-US" dirty="0"/>
              <a:t>Demonstration of “Arithmetic left shift” </a:t>
            </a:r>
            <a:br>
              <a:rPr lang="en-US" dirty="0"/>
            </a:br>
            <a:r>
              <a:rPr lang="en-US" sz="3600" dirty="0"/>
              <a:t>Last 2 digit of </a:t>
            </a:r>
            <a:r>
              <a:rPr lang="tr-TR" sz="3600" dirty="0" err="1"/>
              <a:t>my</a:t>
            </a:r>
            <a:r>
              <a:rPr lang="en-US" sz="3600" dirty="0"/>
              <a:t> Student ID in binary</a:t>
            </a:r>
            <a:r>
              <a:rPr lang="tr-TR" sz="3600" dirty="0"/>
              <a:t>: A = 01001110 </a:t>
            </a:r>
            <a:r>
              <a:rPr lang="en-US" sz="3600" dirty="0"/>
              <a:t>&lt;&lt;&lt;1</a:t>
            </a:r>
          </a:p>
        </p:txBody>
      </p:sp>
      <p:sp>
        <p:nvSpPr>
          <p:cNvPr id="4" name="Rectangle 3">
            <a:extLst>
              <a:ext uri="{FF2B5EF4-FFF2-40B4-BE49-F238E27FC236}">
                <a16:creationId xmlns:a16="http://schemas.microsoft.com/office/drawing/2014/main" id="{78E481C0-A677-2A64-D7ED-9BF8DB055F56}"/>
              </a:ext>
            </a:extLst>
          </p:cNvPr>
          <p:cNvSpPr/>
          <p:nvPr/>
        </p:nvSpPr>
        <p:spPr>
          <a:xfrm>
            <a:off x="391886" y="1393371"/>
            <a:ext cx="114614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aphicFrame>
        <p:nvGraphicFramePr>
          <p:cNvPr id="3" name="Table 2">
            <a:extLst>
              <a:ext uri="{FF2B5EF4-FFF2-40B4-BE49-F238E27FC236}">
                <a16:creationId xmlns:a16="http://schemas.microsoft.com/office/drawing/2014/main" id="{A3FED188-53FB-45D9-4187-27B906808770}"/>
              </a:ext>
            </a:extLst>
          </p:cNvPr>
          <p:cNvGraphicFramePr>
            <a:graphicFrameLocks noGrp="1"/>
          </p:cNvGraphicFramePr>
          <p:nvPr>
            <p:extLst>
              <p:ext uri="{D42A27DB-BD31-4B8C-83A1-F6EECF244321}">
                <p14:modId xmlns:p14="http://schemas.microsoft.com/office/powerpoint/2010/main" val="2633025628"/>
              </p:ext>
            </p:extLst>
          </p:nvPr>
        </p:nvGraphicFramePr>
        <p:xfrm>
          <a:off x="7984740" y="1703019"/>
          <a:ext cx="3729408" cy="951684"/>
        </p:xfrm>
        <a:graphic>
          <a:graphicData uri="http://schemas.openxmlformats.org/drawingml/2006/table">
            <a:tbl>
              <a:tblPr firstRow="1" bandRow="1">
                <a:tableStyleId>{5C22544A-7EE6-4342-B048-85BDC9FD1C3A}</a:tableStyleId>
              </a:tblPr>
              <a:tblGrid>
                <a:gridCol w="932352">
                  <a:extLst>
                    <a:ext uri="{9D8B030D-6E8A-4147-A177-3AD203B41FA5}">
                      <a16:colId xmlns:a16="http://schemas.microsoft.com/office/drawing/2014/main" val="4247149876"/>
                    </a:ext>
                  </a:extLst>
                </a:gridCol>
                <a:gridCol w="932352">
                  <a:extLst>
                    <a:ext uri="{9D8B030D-6E8A-4147-A177-3AD203B41FA5}">
                      <a16:colId xmlns:a16="http://schemas.microsoft.com/office/drawing/2014/main" val="508427375"/>
                    </a:ext>
                  </a:extLst>
                </a:gridCol>
                <a:gridCol w="932352">
                  <a:extLst>
                    <a:ext uri="{9D8B030D-6E8A-4147-A177-3AD203B41FA5}">
                      <a16:colId xmlns:a16="http://schemas.microsoft.com/office/drawing/2014/main" val="213524179"/>
                    </a:ext>
                  </a:extLst>
                </a:gridCol>
                <a:gridCol w="932352">
                  <a:extLst>
                    <a:ext uri="{9D8B030D-6E8A-4147-A177-3AD203B41FA5}">
                      <a16:colId xmlns:a16="http://schemas.microsoft.com/office/drawing/2014/main" val="3023160714"/>
                    </a:ext>
                  </a:extLst>
                </a:gridCol>
              </a:tblGrid>
              <a:tr h="479894">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bg1"/>
                          </a:solidFill>
                          <a:effectLst/>
                        </a:rPr>
                        <a:t>Expected Answer</a:t>
                      </a: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bg1"/>
                          </a:solidFill>
                        </a:rPr>
                        <a:t>Result of the simulation</a:t>
                      </a:r>
                    </a:p>
                  </a:txBody>
                  <a:tcPr/>
                </a:tc>
                <a:extLst>
                  <a:ext uri="{0D108BD9-81ED-4DB2-BD59-A6C34878D82A}">
                    <a16:rowId xmlns:a16="http://schemas.microsoft.com/office/drawing/2014/main" val="3025210268"/>
                  </a:ext>
                </a:extLst>
              </a:tr>
              <a:tr h="311604">
                <a:tc>
                  <a:txBody>
                    <a:bodyPr/>
                    <a:lstStyle/>
                    <a:p>
                      <a:pPr algn="ctr">
                        <a:lnSpc>
                          <a:spcPct val="115000"/>
                        </a:lnSpc>
                        <a:spcAft>
                          <a:spcPts val="800"/>
                        </a:spcAft>
                        <a:buNone/>
                      </a:pPr>
                      <a:r>
                        <a:rPr lang="en-US" sz="1200" b="1" kern="1200" dirty="0">
                          <a:solidFill>
                            <a:schemeClr val="tx1"/>
                          </a:solidFill>
                          <a:effectLst/>
                          <a:latin typeface="+mn-lt"/>
                          <a:ea typeface="+mn-ea"/>
                          <a:cs typeface="+mn-cs"/>
                        </a:rPr>
                        <a:t>1110</a:t>
                      </a:r>
                      <a:endParaRPr lang="en-US" sz="16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b="1" kern="0" dirty="0">
                          <a:effectLst/>
                        </a:rPr>
                        <a:t>A &lt;&lt;&lt; B</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200" b="1" dirty="0"/>
                        <a:t>10011100</a:t>
                      </a:r>
                      <a:endParaRPr lang="en-US" sz="1200" b="1"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200" b="1" dirty="0"/>
                        <a:t>10011100</a:t>
                      </a:r>
                      <a:endParaRPr lang="en-US" sz="1200" b="1" dirty="0">
                        <a:solidFill>
                          <a:srgbClr val="FF0000"/>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Picture 5">
            <a:extLst>
              <a:ext uri="{FF2B5EF4-FFF2-40B4-BE49-F238E27FC236}">
                <a16:creationId xmlns:a16="http://schemas.microsoft.com/office/drawing/2014/main" id="{83D8E9D0-31EC-1EBA-A33F-E4A6E9E5D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86" y="1561494"/>
            <a:ext cx="7453670" cy="4965096"/>
          </a:xfrm>
          <a:prstGeom prst="rect">
            <a:avLst/>
          </a:prstGeom>
        </p:spPr>
      </p:pic>
      <p:sp>
        <p:nvSpPr>
          <p:cNvPr id="7" name="TextBox 6">
            <a:extLst>
              <a:ext uri="{FF2B5EF4-FFF2-40B4-BE49-F238E27FC236}">
                <a16:creationId xmlns:a16="http://schemas.microsoft.com/office/drawing/2014/main" id="{06107FBC-40FA-6728-23C7-105388A78778}"/>
              </a:ext>
            </a:extLst>
          </p:cNvPr>
          <p:cNvSpPr txBox="1"/>
          <p:nvPr/>
        </p:nvSpPr>
        <p:spPr>
          <a:xfrm>
            <a:off x="8086138" y="2964351"/>
            <a:ext cx="3526612" cy="2585323"/>
          </a:xfrm>
          <a:prstGeom prst="rect">
            <a:avLst/>
          </a:prstGeom>
          <a:noFill/>
        </p:spPr>
        <p:txBody>
          <a:bodyPr wrap="square" rtlCol="0">
            <a:spAutoFit/>
          </a:bodyPr>
          <a:lstStyle/>
          <a:p>
            <a:r>
              <a:rPr lang="en-US" dirty="0"/>
              <a:t>The arithmetic left shift operation shifts all bits of the input one position to the left. The least significant bit is filled with zero, while the most significant bit is discarded. In this case, shifting </a:t>
            </a:r>
            <a:r>
              <a:rPr lang="en-US" b="1" dirty="0"/>
              <a:t>A = 01001110</a:t>
            </a:r>
            <a:r>
              <a:rPr lang="en-US" dirty="0"/>
              <a:t> left by one position results in </a:t>
            </a:r>
            <a:r>
              <a:rPr lang="en-US" b="1" dirty="0"/>
              <a:t>10011100</a:t>
            </a:r>
            <a:r>
              <a:rPr lang="en-US" dirty="0"/>
              <a:t>, which matches the simulation output. </a:t>
            </a:r>
          </a:p>
        </p:txBody>
      </p:sp>
    </p:spTree>
    <p:extLst>
      <p:ext uri="{BB962C8B-B14F-4D97-AF65-F5344CB8AC3E}">
        <p14:creationId xmlns:p14="http://schemas.microsoft.com/office/powerpoint/2010/main" val="797501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21DD-4146-4E09-B50F-3B3D7F868841}"/>
              </a:ext>
            </a:extLst>
          </p:cNvPr>
          <p:cNvSpPr>
            <a:spLocks noGrp="1"/>
          </p:cNvSpPr>
          <p:nvPr>
            <p:ph type="title"/>
          </p:nvPr>
        </p:nvSpPr>
        <p:spPr>
          <a:xfrm>
            <a:off x="838200" y="153192"/>
            <a:ext cx="10515600" cy="1325563"/>
          </a:xfrm>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6D4430DA-9E04-88FE-EF15-DF152048708F}"/>
              </a:ext>
            </a:extLst>
          </p:cNvPr>
          <p:cNvSpPr>
            <a:spLocks noGrp="1"/>
          </p:cNvSpPr>
          <p:nvPr>
            <p:ph idx="1"/>
          </p:nvPr>
        </p:nvSpPr>
        <p:spPr>
          <a:xfrm>
            <a:off x="838200" y="1343555"/>
            <a:ext cx="10515600" cy="2026178"/>
          </a:xfrm>
        </p:spPr>
        <p:txBody>
          <a:bodyPr>
            <a:normAutofit/>
          </a:bodyPr>
          <a:lstStyle/>
          <a:p>
            <a:pPr marL="0" indent="0">
              <a:buNone/>
            </a:pPr>
            <a:r>
              <a:rPr lang="en-US" sz="1800" dirty="0"/>
              <a:t>In this 8-bit ALU design, </a:t>
            </a:r>
            <a:r>
              <a:rPr lang="en-US" sz="1800" b="1" dirty="0"/>
              <a:t>input buffers</a:t>
            </a:r>
            <a:r>
              <a:rPr lang="en-US" sz="1800" dirty="0"/>
              <a:t> were inserted at the A[7:0], B[7:0], and Opcode[3:0] interfaces to isolate external sources from the internal CMOS logic. Buffering improved signal integrity by reducing loading effects, preventing unstable transitions caused by large fan-out, and ensuring that the same clean logic levels are distributed consistently to all functional blocks. This approach increased the robustness of the full </a:t>
            </a:r>
            <a:r>
              <a:rPr lang="en-US" sz="1800" dirty="0" err="1"/>
              <a:t>datapath</a:t>
            </a:r>
            <a:r>
              <a:rPr lang="en-US" sz="1800" dirty="0"/>
              <a:t> because each subsequent block (adder, logic network, shifters, comparator/flags, and multiplexing tree) receives restored, full-swing signals rather than directly driving large internal capacitances from the input pins.</a:t>
            </a:r>
          </a:p>
        </p:txBody>
      </p:sp>
      <p:pic>
        <p:nvPicPr>
          <p:cNvPr id="4" name="Picture 3" descr="A diagram of a computer&#10;&#10;AI-generated content may be incorrect.">
            <a:extLst>
              <a:ext uri="{FF2B5EF4-FFF2-40B4-BE49-F238E27FC236}">
                <a16:creationId xmlns:a16="http://schemas.microsoft.com/office/drawing/2014/main" id="{4C442B47-7510-7B3F-B877-1C810BCF2B41}"/>
              </a:ext>
            </a:extLst>
          </p:cNvPr>
          <p:cNvPicPr>
            <a:picLocks noChangeAspect="1"/>
          </p:cNvPicPr>
          <p:nvPr/>
        </p:nvPicPr>
        <p:blipFill>
          <a:blip r:embed="rId2"/>
          <a:srcRect t="8713" b="6630"/>
          <a:stretch>
            <a:fillRect/>
          </a:stretch>
        </p:blipFill>
        <p:spPr>
          <a:xfrm>
            <a:off x="6902447" y="3059324"/>
            <a:ext cx="3164418" cy="3259667"/>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E0829D7D-0FB2-B731-A3DF-F4B46AFEA977}"/>
              </a:ext>
            </a:extLst>
          </p:cNvPr>
          <p:cNvPicPr>
            <a:picLocks noChangeAspect="1"/>
          </p:cNvPicPr>
          <p:nvPr/>
        </p:nvPicPr>
        <p:blipFill>
          <a:blip r:embed="rId3"/>
          <a:stretch>
            <a:fillRect/>
          </a:stretch>
        </p:blipFill>
        <p:spPr>
          <a:xfrm>
            <a:off x="1302485" y="3691732"/>
            <a:ext cx="5135678" cy="1994850"/>
          </a:xfrm>
          <a:prstGeom prst="rect">
            <a:avLst/>
          </a:prstGeom>
        </p:spPr>
      </p:pic>
      <p:sp>
        <p:nvSpPr>
          <p:cNvPr id="6" name="TextBox 5">
            <a:extLst>
              <a:ext uri="{FF2B5EF4-FFF2-40B4-BE49-F238E27FC236}">
                <a16:creationId xmlns:a16="http://schemas.microsoft.com/office/drawing/2014/main" id="{33A1A6DB-23E0-2B0E-4CAB-9C3C9D6B1A31}"/>
              </a:ext>
            </a:extLst>
          </p:cNvPr>
          <p:cNvSpPr txBox="1"/>
          <p:nvPr/>
        </p:nvSpPr>
        <p:spPr>
          <a:xfrm>
            <a:off x="2795057" y="5823915"/>
            <a:ext cx="2150533" cy="369332"/>
          </a:xfrm>
          <a:prstGeom prst="rect">
            <a:avLst/>
          </a:prstGeom>
          <a:noFill/>
        </p:spPr>
        <p:txBody>
          <a:bodyPr wrap="square" rtlCol="0">
            <a:spAutoFit/>
          </a:bodyPr>
          <a:lstStyle/>
          <a:p>
            <a:r>
              <a:rPr lang="tr-TR" dirty="0"/>
              <a:t>8-Bit </a:t>
            </a:r>
            <a:r>
              <a:rPr lang="tr-TR" dirty="0" err="1"/>
              <a:t>Buffer</a:t>
            </a:r>
            <a:r>
              <a:rPr lang="tr-TR" dirty="0"/>
              <a:t> </a:t>
            </a:r>
            <a:r>
              <a:rPr lang="tr-TR" dirty="0" err="1"/>
              <a:t>Layout</a:t>
            </a:r>
            <a:endParaRPr lang="tr-TR" dirty="0"/>
          </a:p>
        </p:txBody>
      </p:sp>
    </p:spTree>
    <p:extLst>
      <p:ext uri="{BB962C8B-B14F-4D97-AF65-F5344CB8AC3E}">
        <p14:creationId xmlns:p14="http://schemas.microsoft.com/office/powerpoint/2010/main" val="1390760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C5F74-0B6D-4149-9CCC-0B375E122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088B7-30F0-4F4B-3240-824A1FB1AAFE}"/>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A1FA7957-BDD9-D103-57CB-3E5EB8E55DA3}"/>
              </a:ext>
            </a:extLst>
          </p:cNvPr>
          <p:cNvSpPr>
            <a:spLocks noGrp="1"/>
          </p:cNvSpPr>
          <p:nvPr>
            <p:ph idx="1"/>
          </p:nvPr>
        </p:nvSpPr>
        <p:spPr>
          <a:xfrm>
            <a:off x="838200" y="1613958"/>
            <a:ext cx="10515600" cy="4351338"/>
          </a:xfrm>
        </p:spPr>
        <p:txBody>
          <a:bodyPr>
            <a:normAutofit/>
          </a:bodyPr>
          <a:lstStyle/>
          <a:p>
            <a:pPr marL="0" indent="0">
              <a:buNone/>
            </a:pPr>
            <a:r>
              <a:rPr lang="en-US" sz="1800" dirty="0"/>
              <a:t>A key novel choice in the selection network was implementing the </a:t>
            </a:r>
            <a:r>
              <a:rPr lang="en-US" sz="1800" b="1" dirty="0"/>
              <a:t>2:1 MUX using transmission gates (TG)</a:t>
            </a:r>
            <a:r>
              <a:rPr lang="en-US" sz="1800" dirty="0"/>
              <a:t> instead of a conventional static CMOS gate-level MUX. A typical static CMOS 2:1 multiplexer can require a relatively high transistor count (commonly around ~20 transistors depending on the exact implementation), while a TG-based 2:1 MUX can be realized with only two transmission gates (4 transistors total) plus the required complementary select signal. This substantially reduced transistor count and routing complexity in the opcode selection structure, leading to a noticeable area advantage in layout, especially because multiplexing is repeated many times across an 8-bit </a:t>
            </a:r>
            <a:r>
              <a:rPr lang="en-US" sz="1800" dirty="0" err="1"/>
              <a:t>datapath</a:t>
            </a:r>
            <a:r>
              <a:rPr lang="en-US" sz="1800" dirty="0"/>
              <a:t>.</a:t>
            </a:r>
          </a:p>
        </p:txBody>
      </p:sp>
      <p:pic>
        <p:nvPicPr>
          <p:cNvPr id="5" name="Picture 4" descr="A computer screen shot of a diagram&#10;&#10;AI-generated content may be incorrect.">
            <a:extLst>
              <a:ext uri="{FF2B5EF4-FFF2-40B4-BE49-F238E27FC236}">
                <a16:creationId xmlns:a16="http://schemas.microsoft.com/office/drawing/2014/main" id="{40FA7EFB-A1ED-D6DC-7144-4570D494841C}"/>
              </a:ext>
            </a:extLst>
          </p:cNvPr>
          <p:cNvPicPr>
            <a:picLocks noChangeAspect="1"/>
          </p:cNvPicPr>
          <p:nvPr/>
        </p:nvPicPr>
        <p:blipFill>
          <a:blip r:embed="rId2"/>
          <a:stretch>
            <a:fillRect/>
          </a:stretch>
        </p:blipFill>
        <p:spPr>
          <a:xfrm>
            <a:off x="6491645" y="3570271"/>
            <a:ext cx="2511008" cy="2936891"/>
          </a:xfrm>
          <a:prstGeom prst="rect">
            <a:avLst/>
          </a:prstGeom>
        </p:spPr>
      </p:pic>
      <p:pic>
        <p:nvPicPr>
          <p:cNvPr id="7" name="Picture 6" descr="A diagram of a machine&#10;&#10;AI-generated content may be incorrect.">
            <a:extLst>
              <a:ext uri="{FF2B5EF4-FFF2-40B4-BE49-F238E27FC236}">
                <a16:creationId xmlns:a16="http://schemas.microsoft.com/office/drawing/2014/main" id="{834E4488-C096-2B7D-5FF3-1EDEF015442F}"/>
              </a:ext>
            </a:extLst>
          </p:cNvPr>
          <p:cNvPicPr>
            <a:picLocks noChangeAspect="1"/>
          </p:cNvPicPr>
          <p:nvPr/>
        </p:nvPicPr>
        <p:blipFill>
          <a:blip r:embed="rId3"/>
          <a:stretch>
            <a:fillRect/>
          </a:stretch>
        </p:blipFill>
        <p:spPr>
          <a:xfrm>
            <a:off x="2425245" y="3713154"/>
            <a:ext cx="3670755" cy="2401852"/>
          </a:xfrm>
          <a:prstGeom prst="rect">
            <a:avLst/>
          </a:prstGeom>
        </p:spPr>
      </p:pic>
    </p:spTree>
    <p:extLst>
      <p:ext uri="{BB962C8B-B14F-4D97-AF65-F5344CB8AC3E}">
        <p14:creationId xmlns:p14="http://schemas.microsoft.com/office/powerpoint/2010/main" val="325851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31BB-9E94-5C35-1AE1-11AD4CA42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E0984-2122-EE73-5B18-8F40B59F61E5}"/>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2098B4FD-69E1-DD75-6E11-6082CD666327}"/>
              </a:ext>
            </a:extLst>
          </p:cNvPr>
          <p:cNvSpPr>
            <a:spLocks noGrp="1"/>
          </p:cNvSpPr>
          <p:nvPr>
            <p:ph idx="1"/>
          </p:nvPr>
        </p:nvSpPr>
        <p:spPr>
          <a:xfrm>
            <a:off x="838200" y="1478492"/>
            <a:ext cx="10515600" cy="4351338"/>
          </a:xfrm>
        </p:spPr>
        <p:txBody>
          <a:bodyPr>
            <a:normAutofit/>
          </a:bodyPr>
          <a:lstStyle/>
          <a:p>
            <a:pPr marL="0" indent="0">
              <a:buNone/>
            </a:pPr>
            <a:r>
              <a:rPr lang="en-US" sz="1800" dirty="0"/>
              <a:t>To scale the opcode selection for a 16-operation ALU, the multiplexer network was built hierarchically. Instead of building a flat 16:1 directly, I first created reusable 2:1 MUX cells, then combined them into 4:1 MUX modules, and finally constructed the 16:1 selection by composing these 4:1 blocks. This modular hierarchy reduced design risk, simplified verification, and allowed layout reuse—each level (2:1 → 4:1 → 16:1) was validated in schematic and simulation before integration into the top-level ALU.</a:t>
            </a:r>
          </a:p>
        </p:txBody>
      </p:sp>
      <p:pic>
        <p:nvPicPr>
          <p:cNvPr id="5" name="Picture 4" descr="A diagram of a computer&#10;&#10;AI-generated content may be incorrect.">
            <a:extLst>
              <a:ext uri="{FF2B5EF4-FFF2-40B4-BE49-F238E27FC236}">
                <a16:creationId xmlns:a16="http://schemas.microsoft.com/office/drawing/2014/main" id="{3973B987-20E0-59DD-BE1F-79BE0AC13A36}"/>
              </a:ext>
            </a:extLst>
          </p:cNvPr>
          <p:cNvPicPr>
            <a:picLocks noChangeAspect="1"/>
          </p:cNvPicPr>
          <p:nvPr/>
        </p:nvPicPr>
        <p:blipFill>
          <a:blip r:embed="rId2"/>
          <a:stretch>
            <a:fillRect/>
          </a:stretch>
        </p:blipFill>
        <p:spPr>
          <a:xfrm>
            <a:off x="2636887" y="2933885"/>
            <a:ext cx="2978929" cy="3688820"/>
          </a:xfrm>
          <a:prstGeom prst="rect">
            <a:avLst/>
          </a:prstGeom>
        </p:spPr>
      </p:pic>
      <p:pic>
        <p:nvPicPr>
          <p:cNvPr id="7" name="Picture 6" descr="A colorful lines and dots&#10;&#10;AI-generated content may be incorrect.">
            <a:extLst>
              <a:ext uri="{FF2B5EF4-FFF2-40B4-BE49-F238E27FC236}">
                <a16:creationId xmlns:a16="http://schemas.microsoft.com/office/drawing/2014/main" id="{6B38544A-4523-579E-FAB2-A4295958EBF3}"/>
              </a:ext>
            </a:extLst>
          </p:cNvPr>
          <p:cNvPicPr>
            <a:picLocks noChangeAspect="1"/>
          </p:cNvPicPr>
          <p:nvPr/>
        </p:nvPicPr>
        <p:blipFill>
          <a:blip r:embed="rId3"/>
          <a:stretch>
            <a:fillRect/>
          </a:stretch>
        </p:blipFill>
        <p:spPr>
          <a:xfrm>
            <a:off x="5858934" y="3063715"/>
            <a:ext cx="4777616" cy="3429160"/>
          </a:xfrm>
          <a:prstGeom prst="rect">
            <a:avLst/>
          </a:prstGeom>
        </p:spPr>
      </p:pic>
    </p:spTree>
    <p:extLst>
      <p:ext uri="{BB962C8B-B14F-4D97-AF65-F5344CB8AC3E}">
        <p14:creationId xmlns:p14="http://schemas.microsoft.com/office/powerpoint/2010/main" val="1160613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294B9-45FD-9C64-0C60-64BC2C786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16FE0-6E1D-1BF0-BB4A-6644C1357E66}"/>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86CEBA5E-A95F-510E-00DB-01D48C119292}"/>
              </a:ext>
            </a:extLst>
          </p:cNvPr>
          <p:cNvSpPr>
            <a:spLocks noGrp="1"/>
          </p:cNvSpPr>
          <p:nvPr>
            <p:ph idx="1"/>
          </p:nvPr>
        </p:nvSpPr>
        <p:spPr>
          <a:xfrm>
            <a:off x="838200" y="1478492"/>
            <a:ext cx="10515600" cy="4351338"/>
          </a:xfrm>
        </p:spPr>
        <p:txBody>
          <a:bodyPr>
            <a:normAutofit/>
          </a:bodyPr>
          <a:lstStyle/>
          <a:p>
            <a:pPr marL="0" indent="0">
              <a:buNone/>
            </a:pPr>
            <a:r>
              <a:rPr lang="en-US" sz="1800" dirty="0"/>
              <a:t>For the comparison operations, I initially designed a 1-bit comparator cell and then replicated it to form an 8-bit version. After testing, I observed that this structure effectively performs bit-by-bit comparison, but it does not always produce a correct full-number comparison unless it includes proper MSB-to-LSB priority (cascading) logic. To correct this, I redesigned the comparison approach by reusing the subtractor output already present in the ALU. In the final implementation, equality is detected through a Zero flag derived from the subtraction result (A − B = 0), while greater-than/less-than are derived from subtraction-related flags (carry/borrow and/or sign behavior depending on the chosen convention). This eliminated the need for a dedicated multi-bit comparator chain and made the design both more correct logically and more area-efficient.</a:t>
            </a:r>
          </a:p>
        </p:txBody>
      </p:sp>
      <p:pic>
        <p:nvPicPr>
          <p:cNvPr id="5" name="Picture 4" descr="A set of images of a diagram&#10;&#10;AI-generated content may be incorrect.">
            <a:extLst>
              <a:ext uri="{FF2B5EF4-FFF2-40B4-BE49-F238E27FC236}">
                <a16:creationId xmlns:a16="http://schemas.microsoft.com/office/drawing/2014/main" id="{603E726F-8100-5BD6-ECF2-D2CF576F3F24}"/>
              </a:ext>
            </a:extLst>
          </p:cNvPr>
          <p:cNvPicPr>
            <a:picLocks noChangeAspect="1"/>
          </p:cNvPicPr>
          <p:nvPr/>
        </p:nvPicPr>
        <p:blipFill>
          <a:blip r:embed="rId2"/>
          <a:stretch>
            <a:fillRect/>
          </a:stretch>
        </p:blipFill>
        <p:spPr>
          <a:xfrm>
            <a:off x="306131" y="4330079"/>
            <a:ext cx="4629935" cy="1192797"/>
          </a:xfrm>
          <a:prstGeom prst="rect">
            <a:avLst/>
          </a:prstGeom>
        </p:spPr>
      </p:pic>
      <p:pic>
        <p:nvPicPr>
          <p:cNvPr id="7" name="Picture 6" descr="A diagram of a circuit board&#10;&#10;AI-generated content may be incorrect.">
            <a:extLst>
              <a:ext uri="{FF2B5EF4-FFF2-40B4-BE49-F238E27FC236}">
                <a16:creationId xmlns:a16="http://schemas.microsoft.com/office/drawing/2014/main" id="{9C8DE859-C782-5A0C-D0BD-C17FEBDFFEAC}"/>
              </a:ext>
            </a:extLst>
          </p:cNvPr>
          <p:cNvPicPr>
            <a:picLocks noChangeAspect="1"/>
          </p:cNvPicPr>
          <p:nvPr/>
        </p:nvPicPr>
        <p:blipFill>
          <a:blip r:embed="rId3"/>
          <a:stretch>
            <a:fillRect/>
          </a:stretch>
        </p:blipFill>
        <p:spPr>
          <a:xfrm>
            <a:off x="5249334" y="4120820"/>
            <a:ext cx="6798733" cy="1611314"/>
          </a:xfrm>
          <a:prstGeom prst="rect">
            <a:avLst/>
          </a:prstGeom>
        </p:spPr>
      </p:pic>
      <p:sp>
        <p:nvSpPr>
          <p:cNvPr id="8" name="TextBox 7">
            <a:extLst>
              <a:ext uri="{FF2B5EF4-FFF2-40B4-BE49-F238E27FC236}">
                <a16:creationId xmlns:a16="http://schemas.microsoft.com/office/drawing/2014/main" id="{67C5728C-D278-8863-DDBC-857AEA502617}"/>
              </a:ext>
            </a:extLst>
          </p:cNvPr>
          <p:cNvSpPr txBox="1"/>
          <p:nvPr/>
        </p:nvSpPr>
        <p:spPr>
          <a:xfrm>
            <a:off x="1545831" y="5547468"/>
            <a:ext cx="2150533" cy="369332"/>
          </a:xfrm>
          <a:prstGeom prst="rect">
            <a:avLst/>
          </a:prstGeom>
          <a:noFill/>
        </p:spPr>
        <p:txBody>
          <a:bodyPr wrap="square" rtlCol="0">
            <a:spAutoFit/>
          </a:bodyPr>
          <a:lstStyle/>
          <a:p>
            <a:r>
              <a:rPr lang="tr-TR" dirty="0"/>
              <a:t>1-Bit </a:t>
            </a:r>
            <a:r>
              <a:rPr lang="tr-TR" dirty="0" err="1"/>
              <a:t>Comparator</a:t>
            </a:r>
            <a:endParaRPr lang="tr-TR" dirty="0"/>
          </a:p>
        </p:txBody>
      </p:sp>
      <p:sp>
        <p:nvSpPr>
          <p:cNvPr id="9" name="TextBox 8">
            <a:extLst>
              <a:ext uri="{FF2B5EF4-FFF2-40B4-BE49-F238E27FC236}">
                <a16:creationId xmlns:a16="http://schemas.microsoft.com/office/drawing/2014/main" id="{78651471-0877-A3C0-D6C8-ECA1BFD316C7}"/>
              </a:ext>
            </a:extLst>
          </p:cNvPr>
          <p:cNvSpPr txBox="1"/>
          <p:nvPr/>
        </p:nvSpPr>
        <p:spPr>
          <a:xfrm>
            <a:off x="7866589" y="5829830"/>
            <a:ext cx="2150533" cy="369332"/>
          </a:xfrm>
          <a:prstGeom prst="rect">
            <a:avLst/>
          </a:prstGeom>
          <a:noFill/>
        </p:spPr>
        <p:txBody>
          <a:bodyPr wrap="square" rtlCol="0">
            <a:spAutoFit/>
          </a:bodyPr>
          <a:lstStyle/>
          <a:p>
            <a:r>
              <a:rPr lang="tr-TR" dirty="0"/>
              <a:t>8-Bit </a:t>
            </a:r>
            <a:r>
              <a:rPr lang="tr-TR" dirty="0" err="1"/>
              <a:t>Comparator</a:t>
            </a:r>
            <a:endParaRPr lang="tr-TR" dirty="0"/>
          </a:p>
        </p:txBody>
      </p:sp>
    </p:spTree>
    <p:extLst>
      <p:ext uri="{BB962C8B-B14F-4D97-AF65-F5344CB8AC3E}">
        <p14:creationId xmlns:p14="http://schemas.microsoft.com/office/powerpoint/2010/main" val="1428498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D8A16-F76A-23FA-B121-6323979BA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D5B12-AF4C-4AED-DCA0-1230F22DA363}"/>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C3A2FA38-715A-B6AF-91D0-55797A4346C0}"/>
              </a:ext>
            </a:extLst>
          </p:cNvPr>
          <p:cNvSpPr>
            <a:spLocks noGrp="1"/>
          </p:cNvSpPr>
          <p:nvPr>
            <p:ph idx="1"/>
          </p:nvPr>
        </p:nvSpPr>
        <p:spPr>
          <a:xfrm>
            <a:off x="838200" y="1478492"/>
            <a:ext cx="7340600" cy="4351338"/>
          </a:xfrm>
        </p:spPr>
        <p:txBody>
          <a:bodyPr>
            <a:normAutofit/>
          </a:bodyPr>
          <a:lstStyle/>
          <a:p>
            <a:pPr marL="0" indent="0">
              <a:buNone/>
            </a:pPr>
            <a:r>
              <a:rPr lang="en-US" sz="1800" dirty="0"/>
              <a:t>As a result, subtraction and all comparison operations were consolidated into a single shared arithmetic path: one subtractor simultaneously supports A − B, A == B, A &gt; B, and A &lt; B through flag logic. This method reduces hardware duplication, improves resource utilization, and keeps the layout compact because it leverages circuitry that already exists for arithmetic operations rather than adding a separate comparator network.</a:t>
            </a:r>
          </a:p>
        </p:txBody>
      </p:sp>
      <p:pic>
        <p:nvPicPr>
          <p:cNvPr id="5" name="Picture 4" descr="A diagram of a number of objects&#10;&#10;AI-generated content may be incorrect.">
            <a:extLst>
              <a:ext uri="{FF2B5EF4-FFF2-40B4-BE49-F238E27FC236}">
                <a16:creationId xmlns:a16="http://schemas.microsoft.com/office/drawing/2014/main" id="{7B9A9DC4-3DE7-0937-6974-6F329DC76A6A}"/>
              </a:ext>
            </a:extLst>
          </p:cNvPr>
          <p:cNvPicPr>
            <a:picLocks noChangeAspect="1"/>
          </p:cNvPicPr>
          <p:nvPr/>
        </p:nvPicPr>
        <p:blipFill>
          <a:blip r:embed="rId2"/>
          <a:stretch>
            <a:fillRect/>
          </a:stretch>
        </p:blipFill>
        <p:spPr>
          <a:xfrm>
            <a:off x="1963958" y="3654161"/>
            <a:ext cx="5089084" cy="2500670"/>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0FD5ABBA-D79C-7B35-1418-35E6559D4ED0}"/>
              </a:ext>
            </a:extLst>
          </p:cNvPr>
          <p:cNvPicPr>
            <a:picLocks noChangeAspect="1"/>
          </p:cNvPicPr>
          <p:nvPr/>
        </p:nvPicPr>
        <p:blipFill>
          <a:blip r:embed="rId3"/>
          <a:stretch>
            <a:fillRect/>
          </a:stretch>
        </p:blipFill>
        <p:spPr>
          <a:xfrm>
            <a:off x="8754534" y="1340393"/>
            <a:ext cx="2743199" cy="5041872"/>
          </a:xfrm>
          <a:prstGeom prst="rect">
            <a:avLst/>
          </a:prstGeom>
        </p:spPr>
      </p:pic>
    </p:spTree>
    <p:extLst>
      <p:ext uri="{BB962C8B-B14F-4D97-AF65-F5344CB8AC3E}">
        <p14:creationId xmlns:p14="http://schemas.microsoft.com/office/powerpoint/2010/main" val="3550519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5AABC-6479-0752-AD0B-D888E68E0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186E2-D7CF-53A8-ACC9-816DF57B3B97}"/>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75D5D03E-1EA3-4951-B263-737A0CF5EA0F}"/>
              </a:ext>
            </a:extLst>
          </p:cNvPr>
          <p:cNvSpPr>
            <a:spLocks noGrp="1"/>
          </p:cNvSpPr>
          <p:nvPr>
            <p:ph idx="1"/>
          </p:nvPr>
        </p:nvSpPr>
        <p:spPr/>
        <p:txBody>
          <a:bodyPr>
            <a:normAutofit/>
          </a:bodyPr>
          <a:lstStyle/>
          <a:p>
            <a:pPr marL="0" indent="0">
              <a:buNone/>
            </a:pPr>
            <a:r>
              <a:rPr lang="en-US" sz="2000" dirty="0"/>
              <a:t>Finally, the entire ALU was developed using a </a:t>
            </a:r>
            <a:r>
              <a:rPr lang="en-US" sz="2000" b="1" dirty="0"/>
              <a:t>fully modular design methodology</a:t>
            </a:r>
            <a:r>
              <a:rPr lang="en-US" sz="2000" dirty="0"/>
              <a:t>. Every function was created first as a </a:t>
            </a:r>
            <a:r>
              <a:rPr lang="en-US" sz="2000" b="1" dirty="0"/>
              <a:t>1-bit building block</a:t>
            </a:r>
            <a:r>
              <a:rPr lang="en-US" sz="2000" dirty="0"/>
              <a:t>, then extended into an </a:t>
            </a:r>
            <a:r>
              <a:rPr lang="en-US" sz="2000" b="1" dirty="0"/>
              <a:t>8-bit module</a:t>
            </a:r>
            <a:r>
              <a:rPr lang="en-US" sz="2000" dirty="0"/>
              <a:t>, and each module includes its own </a:t>
            </a:r>
            <a:r>
              <a:rPr lang="en-US" sz="2000" b="1" dirty="0"/>
              <a:t>schematic, layout, and icon</a:t>
            </a:r>
            <a:r>
              <a:rPr lang="en-US" sz="2000" dirty="0"/>
              <a:t> for clean hierarchical integration. This modular flow made debugging and verification significantly easier, enabled layout reuse, and ensured that the final 8-bit ALU is structured as a scalable library of reusable CMOS macros.</a:t>
            </a:r>
          </a:p>
        </p:txBody>
      </p:sp>
    </p:spTree>
    <p:extLst>
      <p:ext uri="{BB962C8B-B14F-4D97-AF65-F5344CB8AC3E}">
        <p14:creationId xmlns:p14="http://schemas.microsoft.com/office/powerpoint/2010/main" val="3357147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D04D-7A35-930D-C8D1-E79A203DE9CC}"/>
              </a:ext>
            </a:extLst>
          </p:cNvPr>
          <p:cNvSpPr>
            <a:spLocks noGrp="1"/>
          </p:cNvSpPr>
          <p:nvPr>
            <p:ph type="title"/>
          </p:nvPr>
        </p:nvSpPr>
        <p:spPr>
          <a:xfrm>
            <a:off x="838200" y="221455"/>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88812393-FB25-AB8A-7D28-2ACEB5C9B190}"/>
              </a:ext>
            </a:extLst>
          </p:cNvPr>
          <p:cNvSpPr>
            <a:spLocks noGrp="1"/>
          </p:cNvSpPr>
          <p:nvPr>
            <p:ph idx="1"/>
          </p:nvPr>
        </p:nvSpPr>
        <p:spPr>
          <a:xfrm>
            <a:off x="838200" y="1547018"/>
            <a:ext cx="10515600" cy="4652963"/>
          </a:xfrm>
        </p:spPr>
        <p:txBody>
          <a:bodyPr>
            <a:normAutofit fontScale="92500" lnSpcReduction="20000"/>
          </a:bodyPr>
          <a:lstStyle/>
          <a:p>
            <a:pPr marL="0" indent="0">
              <a:buNone/>
            </a:pPr>
            <a:r>
              <a:rPr lang="en-US" sz="2000" dirty="0"/>
              <a:t>In this project, a complete CMOS-based 8-bit Arithmetic Logic Unit (ALU) was designed and verified at the transistor level. Out of the sixteen required operations, </a:t>
            </a:r>
            <a:r>
              <a:rPr lang="en-US" sz="2000" b="1" dirty="0"/>
              <a:t>fifteen were successfully implemented and validated</a:t>
            </a:r>
            <a:r>
              <a:rPr lang="en-US" sz="2000" dirty="0"/>
              <a:t>. The only operation not implemented was the </a:t>
            </a:r>
            <a:r>
              <a:rPr lang="en-US" sz="2000" b="1" dirty="0"/>
              <a:t>multiplication</a:t>
            </a:r>
            <a:r>
              <a:rPr lang="en-US" sz="2000" dirty="0"/>
              <a:t>, which was excluded due to time constraints and its relatively higher structural complexity compared to the other operations.</a:t>
            </a:r>
          </a:p>
          <a:p>
            <a:pPr marL="0" indent="0">
              <a:buNone/>
            </a:pPr>
            <a:r>
              <a:rPr lang="en-US" sz="2000" dirty="0"/>
              <a:t>Each functional block of the ALU was designed in a </a:t>
            </a:r>
            <a:r>
              <a:rPr lang="en-US" sz="2000" b="1" dirty="0"/>
              <a:t>modular manner</a:t>
            </a:r>
            <a:r>
              <a:rPr lang="en-US" sz="2000" dirty="0"/>
              <a:t>, starting from fundamental 1-bit building blocks and scaling up to 8-bit implementations. All major components</a:t>
            </a:r>
            <a:r>
              <a:rPr lang="tr-TR" sz="2000" dirty="0"/>
              <a:t> </a:t>
            </a:r>
            <a:r>
              <a:rPr lang="en-US" sz="2000" dirty="0"/>
              <a:t>were individually designed, simulated, and verified. For every operation, </a:t>
            </a:r>
            <a:r>
              <a:rPr lang="en-US" sz="2000" b="1" dirty="0"/>
              <a:t>separate schematic and layout implementations</a:t>
            </a:r>
            <a:r>
              <a:rPr lang="en-US" sz="2000" dirty="0"/>
              <a:t> were completed, ensuring correctness at the transistor level.</a:t>
            </a:r>
          </a:p>
          <a:p>
            <a:pPr marL="0" indent="0">
              <a:buNone/>
            </a:pPr>
            <a:r>
              <a:rPr lang="en-US" sz="2000" dirty="0"/>
              <a:t>Although the complete 8-bit ALU layout integrating all functional blocks into a single top-level layout could not be finalized within the available time, the </a:t>
            </a:r>
            <a:r>
              <a:rPr lang="en-US" sz="2000" b="1" dirty="0"/>
              <a:t>entire ALU was fully verified at the schematic level</a:t>
            </a:r>
            <a:r>
              <a:rPr lang="en-US" sz="2000" dirty="0"/>
              <a:t>. Functional simulations confirmed that all implemented operations behave correctly and produce the expected outputs for all tested input combinations. The modular nature of the design ensures that the finalized 8-bit layout can be completed straightforwardly by assembling the already verified sub-blocks.</a:t>
            </a:r>
          </a:p>
          <a:p>
            <a:pPr marL="0" indent="0">
              <a:buNone/>
            </a:pPr>
            <a:r>
              <a:rPr lang="en-US" sz="2000" dirty="0"/>
              <a:t>Overall, the project successfully demonstrates a full-custom CMOS ALU design methodology, including logic design, hierarchical structuring, transistor-level optimization, and functional verification. The resulting work provides a solid and extensible foundation for future enhancements such as full layout integration, timing optimization, and power analysis.</a:t>
            </a:r>
          </a:p>
          <a:p>
            <a:pPr marL="0" indent="0">
              <a:buNone/>
            </a:pPr>
            <a:endParaRPr lang="en-US" sz="2000" dirty="0"/>
          </a:p>
        </p:txBody>
      </p:sp>
    </p:spTree>
    <p:extLst>
      <p:ext uri="{BB962C8B-B14F-4D97-AF65-F5344CB8AC3E}">
        <p14:creationId xmlns:p14="http://schemas.microsoft.com/office/powerpoint/2010/main" val="2842279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9402</TotalTime>
  <Words>2964</Words>
  <Application>Microsoft Office PowerPoint</Application>
  <PresentationFormat>Widescreen</PresentationFormat>
  <Paragraphs>212</Paragraphs>
  <Slides>47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Aptos Display</vt:lpstr>
      <vt:lpstr>Arial</vt:lpstr>
      <vt:lpstr>Calibri</vt:lpstr>
      <vt:lpstr>Cambria Math</vt:lpstr>
      <vt:lpstr>Office Theme</vt:lpstr>
      <vt:lpstr>ELE419  IC Design Project</vt:lpstr>
      <vt:lpstr>Literature Review</vt:lpstr>
      <vt:lpstr>Literature Review</vt:lpstr>
      <vt:lpstr>Literature Review</vt:lpstr>
      <vt:lpstr>Literature Review</vt:lpstr>
      <vt:lpstr>Literature Review</vt:lpstr>
      <vt:lpstr>Physical Layout of the Complete Design</vt:lpstr>
      <vt:lpstr>Additional Design Material</vt:lpstr>
      <vt:lpstr>Additional Design Material</vt:lpstr>
      <vt:lpstr>Additional Design Material</vt:lpstr>
      <vt:lpstr>Additional Design Material</vt:lpstr>
      <vt:lpstr>Additional Design Material</vt:lpstr>
      <vt:lpstr>Additional Design Material</vt:lpstr>
      <vt:lpstr>Additional Design Material</vt:lpstr>
      <vt:lpstr>Additional Design Material</vt:lpstr>
      <vt:lpstr>Demonstration of Addition  A = 01010101 B = 01001110</vt:lpstr>
      <vt:lpstr>Demonstration of Addition  A = 01010101 B = 01001110</vt:lpstr>
      <vt:lpstr>Demonstration of Addition  A = 01010101 B = 01001110</vt:lpstr>
      <vt:lpstr>Demonstration of Addition  A = 01010101 B = 01001110</vt:lpstr>
      <vt:lpstr>Demonstration of Subtraction  Last 2 digit of my Student ID in binary =&gt; A = 01001110 B = 1</vt:lpstr>
      <vt:lpstr>Demonstration of Subtraction  Last 2 digit of my Student ID in binary =&gt; A = 01001110 B = 1</vt:lpstr>
      <vt:lpstr>Demonstration of Subtraction  Last 2 digit of my Student ID in binary =&gt; A = 01001110 B = 1</vt:lpstr>
      <vt:lpstr>Demonstration of Subtraction  Last 2 digit of my Student ID in binary =&gt; A = 01001110 B = 1</vt:lpstr>
      <vt:lpstr>Demonstration of “Multiplication”  Last 2 digit of you Student ID in binary x 10101=?</vt:lpstr>
      <vt:lpstr>Demonstration of “Equality Check”  Last 2 digit of my Student ID in binary=&gt; A = 01001110  B = 101</vt:lpstr>
      <vt:lpstr>Demonstration of “Equality Check”  Last 2 digit of my Student ID in binary=&gt; A = 01001110  B = 101</vt:lpstr>
      <vt:lpstr>Demonstration of “Equality Check”  Last 2 digit of my Student ID in binary=&gt; A = 01001110  B = 101</vt:lpstr>
      <vt:lpstr>Demonstration of “Equality Check”  Last 2 digit of my Student ID in binary=&gt; A = 01001110  B = 101</vt:lpstr>
      <vt:lpstr>Demonstration of “Greater Than”  Last 2 digit of my Student ID in binary=&gt; A = 01001110  B = 101</vt:lpstr>
      <vt:lpstr>Demonstration of “Greater Than”  Last 2 digit of my Student ID in binary=&gt; A = 01001110  B = 101</vt:lpstr>
      <vt:lpstr>Demonstration of “Greater Than”  Last 2 digit of my Student ID in binary=&gt; A = 01001110  B = 101</vt:lpstr>
      <vt:lpstr>Demonstration of “Greater Than”  Last 2 digit of my Student ID in binary: A = 01001110  B = 101</vt:lpstr>
      <vt:lpstr>Demonstration of “Less Than”  Last 2 digit of my Student ID in binary: A = 01001110  B = 101</vt:lpstr>
      <vt:lpstr>Demonstration of “Less Than”  Last 2 digit of my Student ID in binary: A = 01001110  B = 101</vt:lpstr>
      <vt:lpstr>Demonstration of “Less Than”  Last 2 digit of my Student ID in binary: A = 01001110  B = 101</vt:lpstr>
      <vt:lpstr>Demonstration of “Less Than”  Last 2 digit of my Student ID in binary: A = 01001110  B = 101</vt:lpstr>
      <vt:lpstr>Demonstration of “Arithmetic left shift”  Last 2 digit of my Student ID in binary: A = 01001110 &lt;&lt;&lt;1</vt:lpstr>
      <vt:lpstr>Demonstration of “Arithmetic left shift”  Last 2 digit of my Student ID in binary: A = 01001110 &lt;&lt;&lt;1</vt:lpstr>
      <vt:lpstr>Demonstration of “Arithmetic left shift”  Last 2 digit of my Student ID in binary: A = 01001110 &lt;&lt;&lt;1</vt:lpstr>
      <vt:lpstr>Demonstration of “Arithmetic left shift”  Last 2 digit of my Student ID in binary: A = 01001110 &lt;&lt;&lt;1</vt:lpstr>
      <vt:lpstr>Demonstration of Novel Approach</vt:lpstr>
      <vt:lpstr>Demonstration of Novel Approach</vt:lpstr>
      <vt:lpstr>Demonstration of Novel Approach</vt:lpstr>
      <vt:lpstr>Demonstration of Novel Approach</vt:lpstr>
      <vt:lpstr>Demonstration of Novel Approach</vt:lpstr>
      <vt:lpstr>Demonstration of Novel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DİNÇER GÖKCEN</dc:creator>
  <cp:lastModifiedBy>Betül Atalay</cp:lastModifiedBy>
  <cp:revision>69</cp:revision>
  <dcterms:created xsi:type="dcterms:W3CDTF">2025-06-04T12:33:08Z</dcterms:created>
  <dcterms:modified xsi:type="dcterms:W3CDTF">2026-01-01T19:24:19Z</dcterms:modified>
</cp:coreProperties>
</file>